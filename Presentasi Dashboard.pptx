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4" r:id="rId5"/>
    <p:sldId id="259" r:id="rId6"/>
    <p:sldId id="260" r:id="rId7"/>
    <p:sldId id="267" r:id="rId8"/>
    <p:sldId id="268" r:id="rId9"/>
    <p:sldId id="261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98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A000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77794" y="1023102"/>
            <a:ext cx="2286000" cy="2286000"/>
          </a:xfrm>
          <a:prstGeom prst="ellipse">
            <a:avLst/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" name="Image 0" descr="C:\Users\ASUS\AppData\Local\Temp\claude\c--Users-ASUS-Documents-KEMNAKER-TELKOM-collection-monitoring\8853f589-4ea1-480c-bc49-7bc43969ae1c\scratchpad\pptx\icons\telkom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4994" y="1480302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49977" y="1863323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</a:t>
            </a:r>
            <a:endParaRPr lang="en-US" sz="4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</a:t>
            </a:r>
            <a:endParaRPr lang="en-US" sz="4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1449977" y="4332203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B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terpusat collection POTS &amp; Non-POTS — Witel Sulbagsel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7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Latar Belakang &amp; Solusi</a:t>
            </a:r>
            <a:endParaRPr lang="en-US" sz="3200" dirty="0"/>
          </a:p>
        </p:txBody>
      </p:sp>
      <p:sp>
        <p:nvSpPr>
          <p:cNvPr id="13" name="Shape 8"/>
          <p:cNvSpPr/>
          <p:nvPr/>
        </p:nvSpPr>
        <p:spPr>
          <a:xfrm>
            <a:off x="6858000" y="1828800"/>
            <a:ext cx="47548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223760" y="214884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15" name="Image 3" descr="C:\Users\ASUS\AppData\Local\Temp\claude\c--Users-ASUS-Documents-KEMNAKER-TELKOM-collection-monitoring\8853f589-4ea1-480c-bc49-7bc43969ae1c\scratchpad\pptx\icons\red\chart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2313432"/>
            <a:ext cx="356616" cy="35661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046720" y="22219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Solusinya</a:t>
            </a:r>
            <a:endParaRPr lang="en-US" sz="2000" dirty="0"/>
          </a:p>
        </p:txBody>
      </p:sp>
      <p:sp>
        <p:nvSpPr>
          <p:cNvPr id="17" name="Text 11"/>
          <p:cNvSpPr txBox="1"/>
          <p:nvPr/>
        </p:nvSpPr>
        <p:spPr>
          <a:xfrm>
            <a:off x="7178040" y="3017520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dashboard web yang menarik data langsung dari Google Sheets — KPI, filter, dan chart otomatis untuk setiap kategori collection, termasuk edit data tertentu langsung </a:t>
            </a: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dashboard.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Monitoring — Witel Sulbagsel</a:t>
            </a:r>
            <a:endParaRPr lang="en-US" sz="900" dirty="0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80F445E1-2978-1A21-0908-5260458B4D1E}"/>
              </a:ext>
            </a:extLst>
          </p:cNvPr>
          <p:cNvSpPr/>
          <p:nvPr/>
        </p:nvSpPr>
        <p:spPr>
          <a:xfrm>
            <a:off x="548640" y="205740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23" name="Image 0" descr="C:\Users\ASUS\AppData\Local\Temp\claude\c--Users-ASUS-Documents-KEMNAKER-TELKOM-collection-monitoring\8853f589-4ea1-480c-bc49-7bc43969ae1c\scratchpad\pptx\icons\red\flag.png">
            <a:extLst>
              <a:ext uri="{FF2B5EF4-FFF2-40B4-BE49-F238E27FC236}">
                <a16:creationId xmlns:a16="http://schemas.microsoft.com/office/drawing/2014/main" id="{D7EDCA67-F111-5AF1-448C-FA00EE2A6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2178101"/>
            <a:ext cx="261518" cy="261518"/>
          </a:xfrm>
          <a:prstGeom prst="rect">
            <a:avLst/>
          </a:prstGeom>
        </p:spPr>
      </p:pic>
      <p:sp>
        <p:nvSpPr>
          <p:cNvPr id="25" name="Text 3">
            <a:extLst>
              <a:ext uri="{FF2B5EF4-FFF2-40B4-BE49-F238E27FC236}">
                <a16:creationId xmlns:a16="http://schemas.microsoft.com/office/drawing/2014/main" id="{E37C31DE-53FB-F521-C866-53B2D91A2606}"/>
              </a:ext>
            </a:extLst>
          </p:cNvPr>
          <p:cNvSpPr txBox="1"/>
          <p:nvPr/>
        </p:nvSpPr>
        <p:spPr>
          <a:xfrm>
            <a:off x="1325880" y="18745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d-ID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tersebar di banyak Google Sheets berbeda untuk tiap kategori layanan.</a:t>
            </a:r>
            <a:endParaRPr lang="id-ID" sz="1600" dirty="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62DAFBD0-B654-BA81-8C72-24588F9D126C}"/>
              </a:ext>
            </a:extLst>
          </p:cNvPr>
          <p:cNvSpPr/>
          <p:nvPr/>
        </p:nvSpPr>
        <p:spPr>
          <a:xfrm>
            <a:off x="548640" y="324612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29" name="Image 1" descr="C:\Users\ASUS\AppData\Local\Temp\claude\c--Users-ASUS-Documents-KEMNAKER-TELKOM-collection-monitoring\8853f589-4ea1-480c-bc49-7bc43969ae1c\scratchpad\pptx\icons\red\flag.png">
            <a:extLst>
              <a:ext uri="{FF2B5EF4-FFF2-40B4-BE49-F238E27FC236}">
                <a16:creationId xmlns:a16="http://schemas.microsoft.com/office/drawing/2014/main" id="{068F20ED-0677-9A6C-CE7D-3731E5DAD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3366821"/>
            <a:ext cx="261518" cy="261518"/>
          </a:xfrm>
          <a:prstGeom prst="rect">
            <a:avLst/>
          </a:prstGeom>
        </p:spPr>
      </p:pic>
      <p:sp>
        <p:nvSpPr>
          <p:cNvPr id="31" name="Text 5">
            <a:extLst>
              <a:ext uri="{FF2B5EF4-FFF2-40B4-BE49-F238E27FC236}">
                <a16:creationId xmlns:a16="http://schemas.microsoft.com/office/drawing/2014/main" id="{1137B7EF-4389-EE35-DD4C-C65DB559E0AE}"/>
              </a:ext>
            </a:extLst>
          </p:cNvPr>
          <p:cNvSpPr txBox="1"/>
          <p:nvPr/>
        </p:nvSpPr>
        <p:spPr>
          <a:xfrm>
            <a:off x="1325880" y="3063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d-ID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harus buka satu per satu sheet untuk melihat status pembayaran &amp; progress AM.</a:t>
            </a:r>
            <a:endParaRPr lang="id-ID" sz="1600" dirty="0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085CFE6A-608F-DB86-D457-238F206A4C0B}"/>
              </a:ext>
            </a:extLst>
          </p:cNvPr>
          <p:cNvSpPr/>
          <p:nvPr/>
        </p:nvSpPr>
        <p:spPr>
          <a:xfrm>
            <a:off x="548640" y="443484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35" name="Image 2" descr="C:\Users\ASUS\AppData\Local\Temp\claude\c--Users-ASUS-Documents-KEMNAKER-TELKOM-collection-monitoring\8853f589-4ea1-480c-bc49-7bc43969ae1c\scratchpad\pptx\icons\red\flag.png">
            <a:extLst>
              <a:ext uri="{FF2B5EF4-FFF2-40B4-BE49-F238E27FC236}">
                <a16:creationId xmlns:a16="http://schemas.microsoft.com/office/drawing/2014/main" id="{9577B8B6-D505-24BD-3664-7715CA34C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4555541"/>
            <a:ext cx="261518" cy="261518"/>
          </a:xfrm>
          <a:prstGeom prst="rect">
            <a:avLst/>
          </a:prstGeom>
        </p:spPr>
      </p:pic>
      <p:sp>
        <p:nvSpPr>
          <p:cNvPr id="37" name="Text 7">
            <a:extLst>
              <a:ext uri="{FF2B5EF4-FFF2-40B4-BE49-F238E27FC236}">
                <a16:creationId xmlns:a16="http://schemas.microsoft.com/office/drawing/2014/main" id="{9693F8AA-51F7-8941-F42C-9B40A827B47D}"/>
              </a:ext>
            </a:extLst>
          </p:cNvPr>
          <p:cNvSpPr txBox="1"/>
          <p:nvPr/>
        </p:nvSpPr>
        <p:spPr>
          <a:xfrm>
            <a:off x="1325880" y="42519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d-ID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ringkasan otomatis untuk analisis harian yang cepat.</a:t>
            </a:r>
            <a:endParaRPr lang="id-ID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>
            <a:extLst>
              <a:ext uri="{FF2B5EF4-FFF2-40B4-BE49-F238E27FC236}">
                <a16:creationId xmlns:a16="http://schemas.microsoft.com/office/drawing/2014/main" id="{747ED3F4-8DD7-DA49-37A9-533B1D649E12}"/>
              </a:ext>
            </a:extLst>
          </p:cNvPr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1200" b="1" kern="0" spc="150" dirty="0">
                <a:solidFill>
                  <a:srgbClr val="E7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</a:t>
            </a:r>
            <a:r>
              <a:rPr lang="en-US" altLang="en-US" sz="1200" b="1" kern="0" spc="150" dirty="0">
                <a:solidFill>
                  <a:srgbClr val="E7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id-ID" sz="12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FBECCBF2-C609-6A13-BED3-5F025D1E1757}"/>
              </a:ext>
            </a:extLst>
          </p:cNvPr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3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Hasil</a:t>
            </a:r>
            <a:r>
              <a:rPr lang="en-US" altLang="en-US" sz="3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&amp; </a:t>
            </a:r>
            <a:r>
              <a:rPr lang="en-US" altLang="en-US" sz="3200" b="1" dirty="0" err="1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Dampak</a:t>
            </a:r>
            <a:r>
              <a:rPr lang="en-US" altLang="en-US" sz="3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altLang="en-US" sz="3200" b="1" dirty="0" err="1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Pengembangan</a:t>
            </a:r>
            <a:endParaRPr lang="id-ID" sz="3200" dirty="0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433CE1F6-0274-1C0A-7D72-ADC2462AE12D}"/>
              </a:ext>
            </a:extLst>
          </p:cNvPr>
          <p:cNvSpPr/>
          <p:nvPr/>
        </p:nvSpPr>
        <p:spPr>
          <a:xfrm>
            <a:off x="790956" y="1691640"/>
            <a:ext cx="50749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93E98E8A-0C5F-ECCA-5BFA-52ACC5F8031E}"/>
              </a:ext>
            </a:extLst>
          </p:cNvPr>
          <p:cNvSpPr txBox="1"/>
          <p:nvPr/>
        </p:nvSpPr>
        <p:spPr>
          <a:xfrm>
            <a:off x="1110996" y="182880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4000" b="1" dirty="0">
                <a:solidFill>
                  <a:srgbClr val="E7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id-ID" sz="40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F2A18604-2C7D-3348-4461-8930F1E75F8A}"/>
              </a:ext>
            </a:extLst>
          </p:cNvPr>
          <p:cNvSpPr txBox="1"/>
          <p:nvPr/>
        </p:nvSpPr>
        <p:spPr>
          <a:xfrm>
            <a:off x="1110996" y="260604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d-ID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</a:t>
            </a:r>
            <a:r>
              <a:rPr lang="en-US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</a:t>
            </a:r>
            <a:r>
              <a:rPr lang="en-US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terintegrasi</a:t>
            </a:r>
            <a:r>
              <a:rPr lang="en-US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d-ID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satu dashboard: Caring, C3MR, PRANPC, Billper, Visit Collection, Claim, Flaging POTS, Monitoring Non-POTS, Performance AM, Flaging Non-POTS — sebelumnya tersebar di banyak sheet.</a:t>
            </a:r>
            <a:endParaRPr lang="id-ID" sz="1200" dirty="0"/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ED966B09-711A-E706-2A4C-0957C98AFD74}"/>
              </a:ext>
            </a:extLst>
          </p:cNvPr>
          <p:cNvSpPr/>
          <p:nvPr/>
        </p:nvSpPr>
        <p:spPr>
          <a:xfrm>
            <a:off x="6323076" y="1691640"/>
            <a:ext cx="50749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1D10C383-C517-2B70-B2B3-2EB982FAC976}"/>
              </a:ext>
            </a:extLst>
          </p:cNvPr>
          <p:cNvSpPr txBox="1"/>
          <p:nvPr/>
        </p:nvSpPr>
        <p:spPr>
          <a:xfrm>
            <a:off x="6643116" y="182880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4000" b="1" dirty="0">
                <a:solidFill>
                  <a:srgbClr val="E7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</a:t>
            </a:r>
            <a:endParaRPr lang="id-ID" sz="40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C86D59C4-1DE6-9192-518B-29F86A6F2732}"/>
              </a:ext>
            </a:extLst>
          </p:cNvPr>
          <p:cNvSpPr txBox="1"/>
          <p:nvPr/>
        </p:nvSpPr>
        <p:spPr>
          <a:xfrm>
            <a:off x="6643116" y="260604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d-ID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pengguna terdaftar (Admin, AM, Head Of Telkom Daerah) — tiap pengguna punya akun sendiri dan sudah dipakai sebagai alat kerja tim.</a:t>
            </a:r>
            <a:endParaRPr lang="id-ID" sz="1200" dirty="0"/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D775601B-5188-798D-E410-3B94EE00C913}"/>
              </a:ext>
            </a:extLst>
          </p:cNvPr>
          <p:cNvSpPr/>
          <p:nvPr/>
        </p:nvSpPr>
        <p:spPr>
          <a:xfrm>
            <a:off x="790956" y="4069080"/>
            <a:ext cx="50749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0A158CA-67AE-00F1-6F7B-D125090611BB}"/>
              </a:ext>
            </a:extLst>
          </p:cNvPr>
          <p:cNvSpPr txBox="1"/>
          <p:nvPr/>
        </p:nvSpPr>
        <p:spPr>
          <a:xfrm>
            <a:off x="1110996" y="420624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4000" b="1" dirty="0">
                <a:solidFill>
                  <a:srgbClr val="E7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id-ID" sz="40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57CB8877-856A-2F13-E6CC-86AD39A18779}"/>
              </a:ext>
            </a:extLst>
          </p:cNvPr>
          <p:cNvSpPr txBox="1"/>
          <p:nvPr/>
        </p:nvSpPr>
        <p:spPr>
          <a:xfrm>
            <a:off x="1110996" y="498348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d-ID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dibaca langsung dari Google Sheets tanpa input ulang manual; tombol Sync mengambil data paling baru.</a:t>
            </a:r>
            <a:endParaRPr lang="id-ID" sz="1200" dirty="0"/>
          </a:p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99FCC0B1-F138-0389-285B-1E620788653F}"/>
              </a:ext>
            </a:extLst>
          </p:cNvPr>
          <p:cNvSpPr/>
          <p:nvPr/>
        </p:nvSpPr>
        <p:spPr>
          <a:xfrm>
            <a:off x="6323076" y="4069080"/>
            <a:ext cx="50749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40A5C8CE-823B-10B0-1981-419E3A9DEF7C}"/>
              </a:ext>
            </a:extLst>
          </p:cNvPr>
          <p:cNvSpPr txBox="1"/>
          <p:nvPr/>
        </p:nvSpPr>
        <p:spPr>
          <a:xfrm>
            <a:off x="6643116" y="420624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4000" b="1" dirty="0">
                <a:solidFill>
                  <a:srgbClr val="E7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</a:t>
            </a:r>
            <a:endParaRPr lang="id-ID" sz="400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96CC07B0-C0EA-0078-78F3-83126048E633}"/>
              </a:ext>
            </a:extLst>
          </p:cNvPr>
          <p:cNvSpPr txBox="1"/>
          <p:nvPr/>
        </p:nvSpPr>
        <p:spPr>
          <a:xfrm>
            <a:off x="6643116" y="498348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KPI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mempercepat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harian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manual.</a:t>
            </a:r>
            <a:endParaRPr lang="en-US" sz="1200" dirty="0"/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43A384B4-F15B-DB71-0B89-CEB98974B9CC}"/>
              </a:ext>
            </a:extLst>
          </p:cNvPr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id-ID" alt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Monitoring — Witel Sulbagsel</a:t>
            </a:r>
            <a:endParaRPr lang="id-ID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A5F3C86-D9B6-8366-C5F4-10F6F79A94EF}"/>
              </a:ext>
            </a:extLst>
          </p:cNvPr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7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1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4618C01-7757-3EAB-3804-B7FB19ADBE4D}"/>
              </a:ext>
            </a:extLst>
          </p:cNvPr>
          <p:cNvSpPr txBox="1"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Alur Penggunaan Dashboard</a:t>
            </a:r>
            <a:endParaRPr lang="en-US" sz="30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41DEA28F-1286-1BE1-3882-DCA71456B148}"/>
              </a:ext>
            </a:extLst>
          </p:cNvPr>
          <p:cNvSpPr txBox="1"/>
          <p:nvPr/>
        </p:nvSpPr>
        <p:spPr>
          <a:xfrm>
            <a:off x="548640" y="1280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buka browser sampai data tersimpan lagi ke sheet — lima langkah.</a:t>
            </a:r>
            <a:endParaRPr lang="en-US" sz="1350" dirty="0"/>
          </a:p>
        </p:txBody>
      </p:sp>
      <p:sp>
        <p:nvSpPr>
          <p:cNvPr id="87" name="Text 37">
            <a:extLst>
              <a:ext uri="{FF2B5EF4-FFF2-40B4-BE49-F238E27FC236}">
                <a16:creationId xmlns:a16="http://schemas.microsoft.com/office/drawing/2014/main" id="{9EC1D787-A7DF-A5AA-A939-7D57DB192441}"/>
              </a:ext>
            </a:extLst>
          </p:cNvPr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Monitoring — Witel Sulbagsel</a:t>
            </a:r>
            <a:endParaRPr lang="en-US" sz="9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AAB6A60C-BEFA-15CE-D6B5-14B758F46E9D}"/>
              </a:ext>
            </a:extLst>
          </p:cNvPr>
          <p:cNvSpPr/>
          <p:nvPr/>
        </p:nvSpPr>
        <p:spPr>
          <a:xfrm>
            <a:off x="548640" y="2240280"/>
            <a:ext cx="2008022" cy="3200400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E4F314B5-ABCF-44D8-F641-0C60F8202F5B}"/>
              </a:ext>
            </a:extLst>
          </p:cNvPr>
          <p:cNvSpPr/>
          <p:nvPr/>
        </p:nvSpPr>
        <p:spPr>
          <a:xfrm>
            <a:off x="1360627" y="2048256"/>
            <a:ext cx="384048" cy="384048"/>
          </a:xfrm>
          <a:prstGeom prst="ellipse">
            <a:avLst/>
          </a:prstGeom>
          <a:solidFill>
            <a:srgbClr val="E70000"/>
          </a:solidFill>
          <a:ln/>
        </p:spPr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2EA4BBA6-5257-3AE4-F8EC-9676CE8BF8F9}"/>
              </a:ext>
            </a:extLst>
          </p:cNvPr>
          <p:cNvSpPr txBox="1"/>
          <p:nvPr/>
        </p:nvSpPr>
        <p:spPr>
          <a:xfrm>
            <a:off x="1360627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altLang="en-US" sz="1092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id-ID" sz="1092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2522B411-8009-5505-817A-15935126218B}"/>
              </a:ext>
            </a:extLst>
          </p:cNvPr>
          <p:cNvSpPr/>
          <p:nvPr/>
        </p:nvSpPr>
        <p:spPr>
          <a:xfrm>
            <a:off x="1255471" y="2560320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20" name="Image 0" descr="C:\Users\ASUS\AppData\Local\Temp\claude\c--Users-ASUS-Documents-KEMNAKER-TELKOM-collection-monitoring\8853f589-4ea1-480c-bc49-7bc43969ae1c\scratchpad\pptx\icons\red\lock.png">
            <a:extLst>
              <a:ext uri="{FF2B5EF4-FFF2-40B4-BE49-F238E27FC236}">
                <a16:creationId xmlns:a16="http://schemas.microsoft.com/office/drawing/2014/main" id="{7045BB58-A085-6B03-DB70-31DDC0904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118" y="2702966"/>
            <a:ext cx="309067" cy="309067"/>
          </a:xfrm>
          <a:prstGeom prst="rect">
            <a:avLst/>
          </a:prstGeom>
        </p:spPr>
      </p:pic>
      <p:sp>
        <p:nvSpPr>
          <p:cNvPr id="24" name="Text 7">
            <a:extLst>
              <a:ext uri="{FF2B5EF4-FFF2-40B4-BE49-F238E27FC236}">
                <a16:creationId xmlns:a16="http://schemas.microsoft.com/office/drawing/2014/main" id="{1283CC33-3ECC-AE05-8F44-BAA903E68645}"/>
              </a:ext>
            </a:extLst>
          </p:cNvPr>
          <p:cNvSpPr txBox="1"/>
          <p:nvPr/>
        </p:nvSpPr>
        <p:spPr>
          <a:xfrm>
            <a:off x="640080" y="3337560"/>
            <a:ext cx="1825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altLang="en-US" sz="14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</a:t>
            </a:r>
            <a:endParaRPr lang="id-ID" sz="14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52D6462F-5055-5F46-AB36-262B07A09CD8}"/>
              </a:ext>
            </a:extLst>
          </p:cNvPr>
          <p:cNvSpPr txBox="1"/>
          <p:nvPr/>
        </p:nvSpPr>
        <p:spPr>
          <a:xfrm>
            <a:off x="685800" y="3886200"/>
            <a:ext cx="173370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id-ID" alt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 dengan akun pribadi (Admin / AM / HOTD) — divalidasi dari sheet Users.</a:t>
            </a:r>
            <a:endParaRPr lang="id-ID" sz="1250" dirty="0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5F91EBE1-7B2A-FBC7-5690-FEFC80C89662}"/>
              </a:ext>
            </a:extLst>
          </p:cNvPr>
          <p:cNvSpPr txBox="1"/>
          <p:nvPr/>
        </p:nvSpPr>
        <p:spPr>
          <a:xfrm>
            <a:off x="2538374" y="36118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altLang="en-US" sz="2200" b="1" dirty="0">
                <a:solidFill>
                  <a:srgbClr val="E7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id-ID" sz="2200" dirty="0"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A48212FB-DE33-EC52-B1D7-D2E6D613CF95}"/>
              </a:ext>
            </a:extLst>
          </p:cNvPr>
          <p:cNvSpPr/>
          <p:nvPr/>
        </p:nvSpPr>
        <p:spPr>
          <a:xfrm>
            <a:off x="2812694" y="2240280"/>
            <a:ext cx="2008022" cy="3200400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05C433EB-530F-D416-8AB4-FB2602778A30}"/>
              </a:ext>
            </a:extLst>
          </p:cNvPr>
          <p:cNvSpPr/>
          <p:nvPr/>
        </p:nvSpPr>
        <p:spPr>
          <a:xfrm>
            <a:off x="3624682" y="2048256"/>
            <a:ext cx="384048" cy="384048"/>
          </a:xfrm>
          <a:prstGeom prst="ellipse">
            <a:avLst/>
          </a:prstGeom>
          <a:solidFill>
            <a:srgbClr val="E70000"/>
          </a:solidFill>
          <a:ln/>
        </p:spPr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0B009C09-600D-59F7-E983-9834189EE6A3}"/>
              </a:ext>
            </a:extLst>
          </p:cNvPr>
          <p:cNvSpPr txBox="1"/>
          <p:nvPr/>
        </p:nvSpPr>
        <p:spPr>
          <a:xfrm>
            <a:off x="3624682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altLang="en-US" sz="1092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id-ID" sz="1092" dirty="0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3DAF97D3-DC9B-0DF4-A93E-7846F26ACD66}"/>
              </a:ext>
            </a:extLst>
          </p:cNvPr>
          <p:cNvSpPr/>
          <p:nvPr/>
        </p:nvSpPr>
        <p:spPr>
          <a:xfrm>
            <a:off x="3519526" y="2560320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52" name="Image 1" descr="C:\Users\ASUS\AppData\Local\Temp\claude\c--Users-ASUS-Documents-KEMNAKER-TELKOM-collection-monitoring\8853f589-4ea1-480c-bc49-7bc43969ae1c\scratchpad\pptx\icons\red\users.png">
            <a:extLst>
              <a:ext uri="{FF2B5EF4-FFF2-40B4-BE49-F238E27FC236}">
                <a16:creationId xmlns:a16="http://schemas.microsoft.com/office/drawing/2014/main" id="{0685709E-8743-951B-C303-8E29E8461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172" y="2702966"/>
            <a:ext cx="309067" cy="309067"/>
          </a:xfrm>
          <a:prstGeom prst="rect">
            <a:avLst/>
          </a:prstGeom>
        </p:spPr>
      </p:pic>
      <p:sp>
        <p:nvSpPr>
          <p:cNvPr id="56" name="Text 14">
            <a:extLst>
              <a:ext uri="{FF2B5EF4-FFF2-40B4-BE49-F238E27FC236}">
                <a16:creationId xmlns:a16="http://schemas.microsoft.com/office/drawing/2014/main" id="{599D04BD-5A34-B1F3-9968-FA42408E986D}"/>
              </a:ext>
            </a:extLst>
          </p:cNvPr>
          <p:cNvSpPr txBox="1"/>
          <p:nvPr/>
        </p:nvSpPr>
        <p:spPr>
          <a:xfrm>
            <a:off x="2904134" y="3337560"/>
            <a:ext cx="1825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altLang="en-US" sz="14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Pilih Modul</a:t>
            </a:r>
            <a:endParaRPr lang="id-ID" sz="1400" dirty="0"/>
          </a:p>
        </p:txBody>
      </p:sp>
      <p:sp>
        <p:nvSpPr>
          <p:cNvPr id="60" name="Text 15">
            <a:extLst>
              <a:ext uri="{FF2B5EF4-FFF2-40B4-BE49-F238E27FC236}">
                <a16:creationId xmlns:a16="http://schemas.microsoft.com/office/drawing/2014/main" id="{092A5C16-4736-B66D-BA6A-D4266A387899}"/>
              </a:ext>
            </a:extLst>
          </p:cNvPr>
          <p:cNvSpPr txBox="1"/>
          <p:nvPr/>
        </p:nvSpPr>
        <p:spPr>
          <a:xfrm>
            <a:off x="2949854" y="3886200"/>
            <a:ext cx="173370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id-ID" alt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modul di sidebar: Caring, Billper, Non-POTS, Claim, dan lainnya.</a:t>
            </a:r>
            <a:endParaRPr lang="id-ID" sz="1250" dirty="0"/>
          </a:p>
        </p:txBody>
      </p:sp>
      <p:sp>
        <p:nvSpPr>
          <p:cNvPr id="64" name="Text 16">
            <a:extLst>
              <a:ext uri="{FF2B5EF4-FFF2-40B4-BE49-F238E27FC236}">
                <a16:creationId xmlns:a16="http://schemas.microsoft.com/office/drawing/2014/main" id="{A3FD3EFA-20A0-0788-344A-53EE8D7858AB}"/>
              </a:ext>
            </a:extLst>
          </p:cNvPr>
          <p:cNvSpPr txBox="1"/>
          <p:nvPr/>
        </p:nvSpPr>
        <p:spPr>
          <a:xfrm>
            <a:off x="4802429" y="36118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altLang="en-US" sz="2200" b="1" dirty="0">
                <a:solidFill>
                  <a:srgbClr val="E7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id-ID" sz="2200" dirty="0"/>
          </a:p>
        </p:txBody>
      </p:sp>
      <p:sp>
        <p:nvSpPr>
          <p:cNvPr id="68" name="Shape 17">
            <a:extLst>
              <a:ext uri="{FF2B5EF4-FFF2-40B4-BE49-F238E27FC236}">
                <a16:creationId xmlns:a16="http://schemas.microsoft.com/office/drawing/2014/main" id="{0F5A3130-7EEA-4FE4-1D9A-ED925DE1516F}"/>
              </a:ext>
            </a:extLst>
          </p:cNvPr>
          <p:cNvSpPr/>
          <p:nvPr/>
        </p:nvSpPr>
        <p:spPr>
          <a:xfrm>
            <a:off x="5076749" y="2240280"/>
            <a:ext cx="2008022" cy="3200400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2" name="Shape 18">
            <a:extLst>
              <a:ext uri="{FF2B5EF4-FFF2-40B4-BE49-F238E27FC236}">
                <a16:creationId xmlns:a16="http://schemas.microsoft.com/office/drawing/2014/main" id="{361B077F-5381-013F-51F6-37E2393A5705}"/>
              </a:ext>
            </a:extLst>
          </p:cNvPr>
          <p:cNvSpPr/>
          <p:nvPr/>
        </p:nvSpPr>
        <p:spPr>
          <a:xfrm>
            <a:off x="5888736" y="2048256"/>
            <a:ext cx="384048" cy="384048"/>
          </a:xfrm>
          <a:prstGeom prst="ellipse">
            <a:avLst/>
          </a:prstGeom>
          <a:solidFill>
            <a:srgbClr val="E70000"/>
          </a:solidFill>
          <a:ln/>
        </p:spPr>
      </p:sp>
      <p:sp>
        <p:nvSpPr>
          <p:cNvPr id="76" name="Text 19">
            <a:extLst>
              <a:ext uri="{FF2B5EF4-FFF2-40B4-BE49-F238E27FC236}">
                <a16:creationId xmlns:a16="http://schemas.microsoft.com/office/drawing/2014/main" id="{9A4F4541-F81E-4A10-4CAF-206C6A4CA669}"/>
              </a:ext>
            </a:extLst>
          </p:cNvPr>
          <p:cNvSpPr txBox="1"/>
          <p:nvPr/>
        </p:nvSpPr>
        <p:spPr>
          <a:xfrm>
            <a:off x="5888736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altLang="en-US" sz="1092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id-ID" sz="1092" dirty="0"/>
          </a:p>
        </p:txBody>
      </p:sp>
      <p:sp>
        <p:nvSpPr>
          <p:cNvPr id="80" name="Shape 20">
            <a:extLst>
              <a:ext uri="{FF2B5EF4-FFF2-40B4-BE49-F238E27FC236}">
                <a16:creationId xmlns:a16="http://schemas.microsoft.com/office/drawing/2014/main" id="{77E7E268-B785-67B1-85D0-5FF21408CFD5}"/>
              </a:ext>
            </a:extLst>
          </p:cNvPr>
          <p:cNvSpPr/>
          <p:nvPr/>
        </p:nvSpPr>
        <p:spPr>
          <a:xfrm>
            <a:off x="5783580" y="2560320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84" name="Image 2" descr="C:\Users\ASUS\AppData\Local\Temp\claude\c--Users-ASUS-Documents-KEMNAKER-TELKOM-collection-monitoring\8853f589-4ea1-480c-bc49-7bc43969ae1c\scratchpad\pptx\icons\red\chartpie.png">
            <a:extLst>
              <a:ext uri="{FF2B5EF4-FFF2-40B4-BE49-F238E27FC236}">
                <a16:creationId xmlns:a16="http://schemas.microsoft.com/office/drawing/2014/main" id="{C8308CB2-9D1B-6A2E-AB12-4A94FA51C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226" y="2702966"/>
            <a:ext cx="309067" cy="309067"/>
          </a:xfrm>
          <a:prstGeom prst="rect">
            <a:avLst/>
          </a:prstGeom>
        </p:spPr>
      </p:pic>
      <p:sp>
        <p:nvSpPr>
          <p:cNvPr id="88" name="Text 21">
            <a:extLst>
              <a:ext uri="{FF2B5EF4-FFF2-40B4-BE49-F238E27FC236}">
                <a16:creationId xmlns:a16="http://schemas.microsoft.com/office/drawing/2014/main" id="{386CD6D2-9A73-6948-E60D-B80559DBE958}"/>
              </a:ext>
            </a:extLst>
          </p:cNvPr>
          <p:cNvSpPr txBox="1"/>
          <p:nvPr/>
        </p:nvSpPr>
        <p:spPr>
          <a:xfrm>
            <a:off x="5168189" y="3337560"/>
            <a:ext cx="1825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altLang="en-US" sz="14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Atur Filter</a:t>
            </a:r>
            <a:endParaRPr lang="id-ID" sz="1400" dirty="0"/>
          </a:p>
        </p:txBody>
      </p:sp>
      <p:sp>
        <p:nvSpPr>
          <p:cNvPr id="91" name="Text 22">
            <a:extLst>
              <a:ext uri="{FF2B5EF4-FFF2-40B4-BE49-F238E27FC236}">
                <a16:creationId xmlns:a16="http://schemas.microsoft.com/office/drawing/2014/main" id="{3F7A7AF0-A6E8-790A-F9D3-96191CCA08D4}"/>
              </a:ext>
            </a:extLst>
          </p:cNvPr>
          <p:cNvSpPr txBox="1"/>
          <p:nvPr/>
        </p:nvSpPr>
        <p:spPr>
          <a:xfrm>
            <a:off x="5213909" y="3886200"/>
            <a:ext cx="173370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id-ID" alt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Segmen, AM, Datel, Status, dll — sesuai kebutuhan analisis.</a:t>
            </a:r>
            <a:endParaRPr lang="id-ID" sz="1250" dirty="0"/>
          </a:p>
        </p:txBody>
      </p:sp>
      <p:sp>
        <p:nvSpPr>
          <p:cNvPr id="93" name="Text 23">
            <a:extLst>
              <a:ext uri="{FF2B5EF4-FFF2-40B4-BE49-F238E27FC236}">
                <a16:creationId xmlns:a16="http://schemas.microsoft.com/office/drawing/2014/main" id="{25A0292E-4868-4B23-17E5-76732D4ACACA}"/>
              </a:ext>
            </a:extLst>
          </p:cNvPr>
          <p:cNvSpPr txBox="1"/>
          <p:nvPr/>
        </p:nvSpPr>
        <p:spPr>
          <a:xfrm>
            <a:off x="7066483" y="36118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altLang="en-US" sz="2200" b="1" dirty="0">
                <a:solidFill>
                  <a:srgbClr val="E7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id-ID" sz="2200" dirty="0"/>
          </a:p>
        </p:txBody>
      </p:sp>
      <p:sp>
        <p:nvSpPr>
          <p:cNvPr id="95" name="Shape 24">
            <a:extLst>
              <a:ext uri="{FF2B5EF4-FFF2-40B4-BE49-F238E27FC236}">
                <a16:creationId xmlns:a16="http://schemas.microsoft.com/office/drawing/2014/main" id="{7CE4DA5E-E6D4-98FB-4013-0D2FF33852FC}"/>
              </a:ext>
            </a:extLst>
          </p:cNvPr>
          <p:cNvSpPr/>
          <p:nvPr/>
        </p:nvSpPr>
        <p:spPr>
          <a:xfrm>
            <a:off x="7340803" y="2240280"/>
            <a:ext cx="2008022" cy="3200400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7" name="Shape 25">
            <a:extLst>
              <a:ext uri="{FF2B5EF4-FFF2-40B4-BE49-F238E27FC236}">
                <a16:creationId xmlns:a16="http://schemas.microsoft.com/office/drawing/2014/main" id="{F2B27AF4-B35D-F151-70F2-A9D3E3D96F1C}"/>
              </a:ext>
            </a:extLst>
          </p:cNvPr>
          <p:cNvSpPr/>
          <p:nvPr/>
        </p:nvSpPr>
        <p:spPr>
          <a:xfrm>
            <a:off x="8152790" y="2048256"/>
            <a:ext cx="384048" cy="384048"/>
          </a:xfrm>
          <a:prstGeom prst="ellipse">
            <a:avLst/>
          </a:prstGeom>
          <a:solidFill>
            <a:srgbClr val="E70000"/>
          </a:solidFill>
          <a:ln/>
        </p:spPr>
      </p:sp>
      <p:sp>
        <p:nvSpPr>
          <p:cNvPr id="99" name="Text 26">
            <a:extLst>
              <a:ext uri="{FF2B5EF4-FFF2-40B4-BE49-F238E27FC236}">
                <a16:creationId xmlns:a16="http://schemas.microsoft.com/office/drawing/2014/main" id="{A929DD34-CF58-4D54-267D-81E8DD2DEEFD}"/>
              </a:ext>
            </a:extLst>
          </p:cNvPr>
          <p:cNvSpPr txBox="1"/>
          <p:nvPr/>
        </p:nvSpPr>
        <p:spPr>
          <a:xfrm>
            <a:off x="815279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altLang="en-US" sz="1092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id-ID" sz="1092" dirty="0"/>
          </a:p>
        </p:txBody>
      </p:sp>
      <p:sp>
        <p:nvSpPr>
          <p:cNvPr id="101" name="Shape 27">
            <a:extLst>
              <a:ext uri="{FF2B5EF4-FFF2-40B4-BE49-F238E27FC236}">
                <a16:creationId xmlns:a16="http://schemas.microsoft.com/office/drawing/2014/main" id="{25E17E91-D7E9-03F8-0288-D7BB7320C6BF}"/>
              </a:ext>
            </a:extLst>
          </p:cNvPr>
          <p:cNvSpPr/>
          <p:nvPr/>
        </p:nvSpPr>
        <p:spPr>
          <a:xfrm>
            <a:off x="8047634" y="2560320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103" name="Image 3" descr="C:\Users\ASUS\AppData\Local\Temp\claude\c--Users-ASUS-Documents-KEMNAKER-TELKOM-collection-monitoring\8853f589-4ea1-480c-bc49-7bc43969ae1c\scratchpad\pptx\icons\red\chartbar.png">
            <a:extLst>
              <a:ext uri="{FF2B5EF4-FFF2-40B4-BE49-F238E27FC236}">
                <a16:creationId xmlns:a16="http://schemas.microsoft.com/office/drawing/2014/main" id="{9E10065E-6127-ECAE-2ABE-EDEADB3580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0281" y="2702966"/>
            <a:ext cx="309067" cy="309067"/>
          </a:xfrm>
          <a:prstGeom prst="rect">
            <a:avLst/>
          </a:prstGeom>
        </p:spPr>
      </p:pic>
      <p:sp>
        <p:nvSpPr>
          <p:cNvPr id="105" name="Text 28">
            <a:extLst>
              <a:ext uri="{FF2B5EF4-FFF2-40B4-BE49-F238E27FC236}">
                <a16:creationId xmlns:a16="http://schemas.microsoft.com/office/drawing/2014/main" id="{2B2F02A4-3837-B41A-B787-F2A73725C6C4}"/>
              </a:ext>
            </a:extLst>
          </p:cNvPr>
          <p:cNvSpPr txBox="1"/>
          <p:nvPr/>
        </p:nvSpPr>
        <p:spPr>
          <a:xfrm>
            <a:off x="7432243" y="3337560"/>
            <a:ext cx="1825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altLang="en-US" sz="14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 &amp; Chart Update</a:t>
            </a:r>
            <a:endParaRPr lang="id-ID" sz="1400" dirty="0"/>
          </a:p>
        </p:txBody>
      </p:sp>
      <p:sp>
        <p:nvSpPr>
          <p:cNvPr id="107" name="Text 29">
            <a:extLst>
              <a:ext uri="{FF2B5EF4-FFF2-40B4-BE49-F238E27FC236}">
                <a16:creationId xmlns:a16="http://schemas.microsoft.com/office/drawing/2014/main" id="{83009B54-C37B-6E28-C4B1-384595CB6142}"/>
              </a:ext>
            </a:extLst>
          </p:cNvPr>
          <p:cNvSpPr txBox="1"/>
          <p:nvPr/>
        </p:nvSpPr>
        <p:spPr>
          <a:xfrm>
            <a:off x="7477963" y="3886200"/>
            <a:ext cx="173370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id-ID" alt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KPI, progress bar, dan chart otomatis menyesuaikan filter.</a:t>
            </a:r>
            <a:endParaRPr lang="id-ID" sz="1250" dirty="0"/>
          </a:p>
        </p:txBody>
      </p:sp>
      <p:sp>
        <p:nvSpPr>
          <p:cNvPr id="109" name="Text 30">
            <a:extLst>
              <a:ext uri="{FF2B5EF4-FFF2-40B4-BE49-F238E27FC236}">
                <a16:creationId xmlns:a16="http://schemas.microsoft.com/office/drawing/2014/main" id="{E3F1CA68-1CD4-6916-B065-40B865615E99}"/>
              </a:ext>
            </a:extLst>
          </p:cNvPr>
          <p:cNvSpPr txBox="1"/>
          <p:nvPr/>
        </p:nvSpPr>
        <p:spPr>
          <a:xfrm>
            <a:off x="9330538" y="36118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altLang="en-US" sz="2200" b="1" dirty="0">
                <a:solidFill>
                  <a:srgbClr val="E7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id-ID" sz="2200" dirty="0"/>
          </a:p>
        </p:txBody>
      </p:sp>
      <p:sp>
        <p:nvSpPr>
          <p:cNvPr id="111" name="Shape 31">
            <a:extLst>
              <a:ext uri="{FF2B5EF4-FFF2-40B4-BE49-F238E27FC236}">
                <a16:creationId xmlns:a16="http://schemas.microsoft.com/office/drawing/2014/main" id="{A5AF07B2-11F1-D378-1A96-930D0DFFFB32}"/>
              </a:ext>
            </a:extLst>
          </p:cNvPr>
          <p:cNvSpPr/>
          <p:nvPr/>
        </p:nvSpPr>
        <p:spPr>
          <a:xfrm>
            <a:off x="9604858" y="2240280"/>
            <a:ext cx="2008022" cy="3200400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3" name="Shape 32">
            <a:extLst>
              <a:ext uri="{FF2B5EF4-FFF2-40B4-BE49-F238E27FC236}">
                <a16:creationId xmlns:a16="http://schemas.microsoft.com/office/drawing/2014/main" id="{1DA1C839-4FEE-C355-1F3F-FB37588AFD5C}"/>
              </a:ext>
            </a:extLst>
          </p:cNvPr>
          <p:cNvSpPr/>
          <p:nvPr/>
        </p:nvSpPr>
        <p:spPr>
          <a:xfrm>
            <a:off x="10416845" y="2048256"/>
            <a:ext cx="384048" cy="384048"/>
          </a:xfrm>
          <a:prstGeom prst="ellipse">
            <a:avLst/>
          </a:prstGeom>
          <a:solidFill>
            <a:srgbClr val="E70000"/>
          </a:solidFill>
          <a:ln/>
        </p:spPr>
      </p:sp>
      <p:sp>
        <p:nvSpPr>
          <p:cNvPr id="115" name="Text 33">
            <a:extLst>
              <a:ext uri="{FF2B5EF4-FFF2-40B4-BE49-F238E27FC236}">
                <a16:creationId xmlns:a16="http://schemas.microsoft.com/office/drawing/2014/main" id="{16417EC3-F177-BEB3-8487-E88B6DA28876}"/>
              </a:ext>
            </a:extLst>
          </p:cNvPr>
          <p:cNvSpPr txBox="1"/>
          <p:nvPr/>
        </p:nvSpPr>
        <p:spPr>
          <a:xfrm>
            <a:off x="10416845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altLang="en-US" sz="1092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id-ID" sz="1092" dirty="0"/>
          </a:p>
        </p:txBody>
      </p:sp>
      <p:sp>
        <p:nvSpPr>
          <p:cNvPr id="117" name="Shape 34">
            <a:extLst>
              <a:ext uri="{FF2B5EF4-FFF2-40B4-BE49-F238E27FC236}">
                <a16:creationId xmlns:a16="http://schemas.microsoft.com/office/drawing/2014/main" id="{F8AD4D5C-3428-DCA8-C6D0-C16762DA84A0}"/>
              </a:ext>
            </a:extLst>
          </p:cNvPr>
          <p:cNvSpPr/>
          <p:nvPr/>
        </p:nvSpPr>
        <p:spPr>
          <a:xfrm>
            <a:off x="10311689" y="2560320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119" name="Image 4" descr="C:\Users\ASUS\AppData\Local\Temp\claude\c--Users-ASUS-Documents-KEMNAKER-TELKOM-collection-monitoring\8853f589-4ea1-480c-bc49-7bc43969ae1c\scratchpad\pptx\icons\red\sync.png">
            <a:extLst>
              <a:ext uri="{FF2B5EF4-FFF2-40B4-BE49-F238E27FC236}">
                <a16:creationId xmlns:a16="http://schemas.microsoft.com/office/drawing/2014/main" id="{6F63340F-FA5D-83DF-4928-7B25AF876C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4335" y="2702966"/>
            <a:ext cx="309067" cy="309067"/>
          </a:xfrm>
          <a:prstGeom prst="rect">
            <a:avLst/>
          </a:prstGeom>
        </p:spPr>
      </p:pic>
      <p:sp>
        <p:nvSpPr>
          <p:cNvPr id="121" name="Text 35">
            <a:extLst>
              <a:ext uri="{FF2B5EF4-FFF2-40B4-BE49-F238E27FC236}">
                <a16:creationId xmlns:a16="http://schemas.microsoft.com/office/drawing/2014/main" id="{8B7215EF-122E-7DE8-9725-413BBDBC2E49}"/>
              </a:ext>
            </a:extLst>
          </p:cNvPr>
          <p:cNvSpPr txBox="1"/>
          <p:nvPr/>
        </p:nvSpPr>
        <p:spPr>
          <a:xfrm>
            <a:off x="9696298" y="3337560"/>
            <a:ext cx="1825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altLang="en-US" sz="14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 &amp; Sync</a:t>
            </a:r>
            <a:endParaRPr lang="id-ID" sz="1400" dirty="0"/>
          </a:p>
        </p:txBody>
      </p:sp>
      <p:sp>
        <p:nvSpPr>
          <p:cNvPr id="123" name="Text 36">
            <a:extLst>
              <a:ext uri="{FF2B5EF4-FFF2-40B4-BE49-F238E27FC236}">
                <a16:creationId xmlns:a16="http://schemas.microsoft.com/office/drawing/2014/main" id="{7E9FC56E-D20F-4C37-C74A-A4F19C00E94C}"/>
              </a:ext>
            </a:extLst>
          </p:cNvPr>
          <p:cNvSpPr txBox="1"/>
          <p:nvPr/>
        </p:nvSpPr>
        <p:spPr>
          <a:xfrm>
            <a:off x="9742018" y="3886200"/>
            <a:ext cx="173370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id-ID" alt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Khusus Monitoring Non-POTS: edit VOC + Keterangan, langsung tersimpan ke sheet.</a:t>
            </a:r>
            <a:endParaRPr lang="id-ID" sz="1250" dirty="0"/>
          </a:p>
        </p:txBody>
      </p:sp>
    </p:spTree>
    <p:extLst>
      <p:ext uri="{BB962C8B-B14F-4D97-AF65-F5344CB8AC3E}">
        <p14:creationId xmlns:p14="http://schemas.microsoft.com/office/powerpoint/2010/main" val="3710661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7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Cakupan Modul</a:t>
            </a:r>
            <a:endParaRPr lang="en-US" sz="3200" dirty="0"/>
          </a:p>
        </p:txBody>
      </p:sp>
      <p:sp>
        <p:nvSpPr>
          <p:cNvPr id="35" name="Text 2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Monitoring — Witel Sulbagsel</a:t>
            </a:r>
            <a:endParaRPr lang="en-US" sz="900" dirty="0"/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480BDD82-BC6B-F0BC-47E1-13CA9E6AE6DA}"/>
              </a:ext>
            </a:extLst>
          </p:cNvPr>
          <p:cNvSpPr/>
          <p:nvPr/>
        </p:nvSpPr>
        <p:spPr>
          <a:xfrm>
            <a:off x="790956" y="1828800"/>
            <a:ext cx="5074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A2769EA2-EFFA-2719-F10F-199F17E6F027}"/>
              </a:ext>
            </a:extLst>
          </p:cNvPr>
          <p:cNvSpPr/>
          <p:nvPr/>
        </p:nvSpPr>
        <p:spPr>
          <a:xfrm>
            <a:off x="992124" y="20116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42" name="Image 0" descr="C:\Users\ASUS\AppData\Local\Temp\claude\c--Users-ASUS-Documents-KEMNAKER-TELKOM-collection-monitoring\8853f589-4ea1-480c-bc49-7bc43969ae1c\scratchpad\pptx\icons\red\headset.png">
            <a:extLst>
              <a:ext uri="{FF2B5EF4-FFF2-40B4-BE49-F238E27FC236}">
                <a16:creationId xmlns:a16="http://schemas.microsoft.com/office/drawing/2014/main" id="{F5661819-44AB-6F3E-1C37-5404B9945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" y="2121408"/>
            <a:ext cx="237744" cy="237744"/>
          </a:xfrm>
          <a:prstGeom prst="rect">
            <a:avLst/>
          </a:prstGeom>
        </p:spPr>
      </p:pic>
      <p:sp>
        <p:nvSpPr>
          <p:cNvPr id="44" name="Text 5">
            <a:extLst>
              <a:ext uri="{FF2B5EF4-FFF2-40B4-BE49-F238E27FC236}">
                <a16:creationId xmlns:a16="http://schemas.microsoft.com/office/drawing/2014/main" id="{950666DC-2AC1-73E2-ADE0-91195D5C3381}"/>
              </a:ext>
            </a:extLst>
          </p:cNvPr>
          <p:cNvSpPr txBox="1"/>
          <p:nvPr/>
        </p:nvSpPr>
        <p:spPr>
          <a:xfrm>
            <a:off x="1586484" y="20116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Caring, C3MR, PRANPC, Billper</a:t>
            </a:r>
            <a:endParaRPr lang="id-ID" sz="1300" dirty="0"/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7A87C215-7503-5B59-F2EB-A211E774BA3E}"/>
              </a:ext>
            </a:extLst>
          </p:cNvPr>
          <p:cNvSpPr txBox="1"/>
          <p:nvPr/>
        </p:nvSpPr>
        <p:spPr>
          <a:xfrm>
            <a:off x="992124" y="2578608"/>
            <a:ext cx="4672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d-ID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pembayaran (Lunas / Belum Lunas) per pelanggan dengan filter Datel &amp; UBIS; Billper dilengkapi rekap tagihan per Datel.</a:t>
            </a:r>
            <a:endParaRPr lang="id-ID" sz="1150" dirty="0"/>
          </a:p>
        </p:txBody>
      </p:sp>
      <p:sp>
        <p:nvSpPr>
          <p:cNvPr id="48" name="Shape 7">
            <a:extLst>
              <a:ext uri="{FF2B5EF4-FFF2-40B4-BE49-F238E27FC236}">
                <a16:creationId xmlns:a16="http://schemas.microsoft.com/office/drawing/2014/main" id="{5ED89CC4-6A3F-663D-21D3-AF26030F8EAA}"/>
              </a:ext>
            </a:extLst>
          </p:cNvPr>
          <p:cNvSpPr/>
          <p:nvPr/>
        </p:nvSpPr>
        <p:spPr>
          <a:xfrm>
            <a:off x="6323076" y="1828800"/>
            <a:ext cx="5074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8">
            <a:extLst>
              <a:ext uri="{FF2B5EF4-FFF2-40B4-BE49-F238E27FC236}">
                <a16:creationId xmlns:a16="http://schemas.microsoft.com/office/drawing/2014/main" id="{9BB3190E-E57B-4297-D232-EF552DCBF1F3}"/>
              </a:ext>
            </a:extLst>
          </p:cNvPr>
          <p:cNvSpPr/>
          <p:nvPr/>
        </p:nvSpPr>
        <p:spPr>
          <a:xfrm>
            <a:off x="6524244" y="20116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52" name="Image 1" descr="C:\Users\ASUS\AppData\Local\Temp\claude\c--Users-ASUS-Documents-KEMNAKER-TELKOM-collection-monitoring\8853f589-4ea1-480c-bc49-7bc43969ae1c\scratchpad\pptx\icons\red\mapmarker.png">
            <a:extLst>
              <a:ext uri="{FF2B5EF4-FFF2-40B4-BE49-F238E27FC236}">
                <a16:creationId xmlns:a16="http://schemas.microsoft.com/office/drawing/2014/main" id="{825133A3-526B-9DB1-55F3-12A4809FF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972" y="2121408"/>
            <a:ext cx="237744" cy="237744"/>
          </a:xfrm>
          <a:prstGeom prst="rect">
            <a:avLst/>
          </a:prstGeom>
        </p:spPr>
      </p:pic>
      <p:sp>
        <p:nvSpPr>
          <p:cNvPr id="54" name="Text 9">
            <a:extLst>
              <a:ext uri="{FF2B5EF4-FFF2-40B4-BE49-F238E27FC236}">
                <a16:creationId xmlns:a16="http://schemas.microsoft.com/office/drawing/2014/main" id="{860EAFF2-68AA-DF03-00E7-58178CA58318}"/>
              </a:ext>
            </a:extLst>
          </p:cNvPr>
          <p:cNvSpPr txBox="1"/>
          <p:nvPr/>
        </p:nvSpPr>
        <p:spPr>
          <a:xfrm>
            <a:off x="7118604" y="20116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 Collection</a:t>
            </a:r>
            <a:endParaRPr lang="id-ID" sz="13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6445361D-5403-DD84-C273-B5C7E792B1BA}"/>
              </a:ext>
            </a:extLst>
          </p:cNvPr>
          <p:cNvSpPr txBox="1"/>
          <p:nvPr/>
        </p:nvSpPr>
        <p:spPr>
          <a:xfrm>
            <a:off x="6524244" y="2578608"/>
            <a:ext cx="4672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d-ID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kunjungan lapangan AM: Total, Bertemu, Lunas, Belum Lunas, per Activity Reason.</a:t>
            </a:r>
            <a:endParaRPr lang="id-ID" sz="1150" dirty="0"/>
          </a:p>
        </p:txBody>
      </p:sp>
      <p:sp>
        <p:nvSpPr>
          <p:cNvPr id="58" name="Shape 11">
            <a:extLst>
              <a:ext uri="{FF2B5EF4-FFF2-40B4-BE49-F238E27FC236}">
                <a16:creationId xmlns:a16="http://schemas.microsoft.com/office/drawing/2014/main" id="{645D6AA3-F86B-1C97-DC69-3C7F07BD9D71}"/>
              </a:ext>
            </a:extLst>
          </p:cNvPr>
          <p:cNvSpPr/>
          <p:nvPr/>
        </p:nvSpPr>
        <p:spPr>
          <a:xfrm>
            <a:off x="790956" y="3383280"/>
            <a:ext cx="5074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0" name="Shape 12">
            <a:extLst>
              <a:ext uri="{FF2B5EF4-FFF2-40B4-BE49-F238E27FC236}">
                <a16:creationId xmlns:a16="http://schemas.microsoft.com/office/drawing/2014/main" id="{E97B936D-5597-F141-4158-2022B4947F66}"/>
              </a:ext>
            </a:extLst>
          </p:cNvPr>
          <p:cNvSpPr/>
          <p:nvPr/>
        </p:nvSpPr>
        <p:spPr>
          <a:xfrm>
            <a:off x="992124" y="35661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62" name="Image 2" descr="C:\Users\ASUS\AppData\Local\Temp\claude\c--Users-ASUS-Documents-KEMNAKER-TELKOM-collection-monitoring\8853f589-4ea1-480c-bc49-7bc43969ae1c\scratchpad\pptx\icons\red\gavel.png">
            <a:extLst>
              <a:ext uri="{FF2B5EF4-FFF2-40B4-BE49-F238E27FC236}">
                <a16:creationId xmlns:a16="http://schemas.microsoft.com/office/drawing/2014/main" id="{43C8054F-75A5-DB27-374B-94BF8E2D17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" y="3675888"/>
            <a:ext cx="237744" cy="237744"/>
          </a:xfrm>
          <a:prstGeom prst="rect">
            <a:avLst/>
          </a:prstGeom>
        </p:spPr>
      </p:pic>
      <p:sp>
        <p:nvSpPr>
          <p:cNvPr id="64" name="Text 13">
            <a:extLst>
              <a:ext uri="{FF2B5EF4-FFF2-40B4-BE49-F238E27FC236}">
                <a16:creationId xmlns:a16="http://schemas.microsoft.com/office/drawing/2014/main" id="{AC59C2E6-531C-5CDC-7FA8-033B78107090}"/>
              </a:ext>
            </a:extLst>
          </p:cNvPr>
          <p:cNvSpPr txBox="1"/>
          <p:nvPr/>
        </p:nvSpPr>
        <p:spPr>
          <a:xfrm>
            <a:off x="1586484" y="35661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Claim</a:t>
            </a:r>
            <a:endParaRPr lang="id-ID" sz="1300" dirty="0"/>
          </a:p>
        </p:txBody>
      </p:sp>
      <p:sp>
        <p:nvSpPr>
          <p:cNvPr id="66" name="Text 14">
            <a:extLst>
              <a:ext uri="{FF2B5EF4-FFF2-40B4-BE49-F238E27FC236}">
                <a16:creationId xmlns:a16="http://schemas.microsoft.com/office/drawing/2014/main" id="{852E0EAF-D684-CBFB-5FE1-CF34F21748FD}"/>
              </a:ext>
            </a:extLst>
          </p:cNvPr>
          <p:cNvSpPr txBox="1"/>
          <p:nvPr/>
        </p:nvSpPr>
        <p:spPr>
          <a:xfrm>
            <a:off x="992124" y="4133088"/>
            <a:ext cx="4672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d-ID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klaim (Selesai / Pending), tren klaim per bulan, dan Top 5 AM.</a:t>
            </a:r>
            <a:endParaRPr lang="id-ID" sz="1150" dirty="0"/>
          </a:p>
        </p:txBody>
      </p:sp>
      <p:sp>
        <p:nvSpPr>
          <p:cNvPr id="68" name="Shape 15">
            <a:extLst>
              <a:ext uri="{FF2B5EF4-FFF2-40B4-BE49-F238E27FC236}">
                <a16:creationId xmlns:a16="http://schemas.microsoft.com/office/drawing/2014/main" id="{1D1A7268-9CB0-EF43-1104-3CA64E411024}"/>
              </a:ext>
            </a:extLst>
          </p:cNvPr>
          <p:cNvSpPr/>
          <p:nvPr/>
        </p:nvSpPr>
        <p:spPr>
          <a:xfrm>
            <a:off x="6323076" y="3383280"/>
            <a:ext cx="5074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0" name="Shape 16">
            <a:extLst>
              <a:ext uri="{FF2B5EF4-FFF2-40B4-BE49-F238E27FC236}">
                <a16:creationId xmlns:a16="http://schemas.microsoft.com/office/drawing/2014/main" id="{8EC534E8-13AF-DBE0-767E-76FB0BA88732}"/>
              </a:ext>
            </a:extLst>
          </p:cNvPr>
          <p:cNvSpPr/>
          <p:nvPr/>
        </p:nvSpPr>
        <p:spPr>
          <a:xfrm>
            <a:off x="6524244" y="35661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72" name="Image 3" descr="C:\Users\ASUS\AppData\Local\Temp\claude\c--Users-ASUS-Documents-KEMNAKER-TELKOM-collection-monitoring\8853f589-4ea1-480c-bc49-7bc43969ae1c\scratchpad\pptx\icons\red\flag.png">
            <a:extLst>
              <a:ext uri="{FF2B5EF4-FFF2-40B4-BE49-F238E27FC236}">
                <a16:creationId xmlns:a16="http://schemas.microsoft.com/office/drawing/2014/main" id="{FA7FB3F2-2207-8A63-6568-B326539094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3972" y="3675888"/>
            <a:ext cx="237744" cy="237744"/>
          </a:xfrm>
          <a:prstGeom prst="rect">
            <a:avLst/>
          </a:prstGeom>
        </p:spPr>
      </p:pic>
      <p:sp>
        <p:nvSpPr>
          <p:cNvPr id="74" name="Text 17">
            <a:extLst>
              <a:ext uri="{FF2B5EF4-FFF2-40B4-BE49-F238E27FC236}">
                <a16:creationId xmlns:a16="http://schemas.microsoft.com/office/drawing/2014/main" id="{47C79857-2AE5-80AC-814F-7223C73AC3A8}"/>
              </a:ext>
            </a:extLst>
          </p:cNvPr>
          <p:cNvSpPr txBox="1"/>
          <p:nvPr/>
        </p:nvSpPr>
        <p:spPr>
          <a:xfrm>
            <a:off x="7118604" y="35661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Flaging POTS &amp; Non-POTS</a:t>
            </a:r>
            <a:endParaRPr lang="id-ID" sz="1300" dirty="0"/>
          </a:p>
        </p:txBody>
      </p:sp>
      <p:sp>
        <p:nvSpPr>
          <p:cNvPr id="76" name="Text 18">
            <a:extLst>
              <a:ext uri="{FF2B5EF4-FFF2-40B4-BE49-F238E27FC236}">
                <a16:creationId xmlns:a16="http://schemas.microsoft.com/office/drawing/2014/main" id="{E5F934EF-CC4C-5B0A-9B0C-373DE614127C}"/>
              </a:ext>
            </a:extLst>
          </p:cNvPr>
          <p:cNvSpPr txBox="1"/>
          <p:nvPr/>
        </p:nvSpPr>
        <p:spPr>
          <a:xfrm>
            <a:off x="6524244" y="4133088"/>
            <a:ext cx="4672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d-ID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Lunas / Belum Lunas per transaksi flagging; Non-POTS dilengkapi Nama AM &amp; Collection Agent.</a:t>
            </a:r>
            <a:endParaRPr lang="id-ID" sz="1150" dirty="0"/>
          </a:p>
        </p:txBody>
      </p:sp>
      <p:sp>
        <p:nvSpPr>
          <p:cNvPr id="78" name="Shape 19">
            <a:extLst>
              <a:ext uri="{FF2B5EF4-FFF2-40B4-BE49-F238E27FC236}">
                <a16:creationId xmlns:a16="http://schemas.microsoft.com/office/drawing/2014/main" id="{676B018B-89D3-0394-78EB-BF4A1EA0E4D7}"/>
              </a:ext>
            </a:extLst>
          </p:cNvPr>
          <p:cNvSpPr/>
          <p:nvPr/>
        </p:nvSpPr>
        <p:spPr>
          <a:xfrm>
            <a:off x="790956" y="4937760"/>
            <a:ext cx="5074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0" name="Shape 20">
            <a:extLst>
              <a:ext uri="{FF2B5EF4-FFF2-40B4-BE49-F238E27FC236}">
                <a16:creationId xmlns:a16="http://schemas.microsoft.com/office/drawing/2014/main" id="{EA6D754B-8F4A-78BC-0DE1-E7E8C24A2561}"/>
              </a:ext>
            </a:extLst>
          </p:cNvPr>
          <p:cNvSpPr/>
          <p:nvPr/>
        </p:nvSpPr>
        <p:spPr>
          <a:xfrm>
            <a:off x="992124" y="5120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82" name="Image 4" descr="C:\Users\ASUS\AppData\Local\Temp\claude\c--Users-ASUS-Documents-KEMNAKER-TELKOM-collection-monitoring\8853f589-4ea1-480c-bc49-7bc43969ae1c\scratchpad\pptx\icons\red\chartpie.png">
            <a:extLst>
              <a:ext uri="{FF2B5EF4-FFF2-40B4-BE49-F238E27FC236}">
                <a16:creationId xmlns:a16="http://schemas.microsoft.com/office/drawing/2014/main" id="{E0F2C5E5-3C93-D0FF-1710-4DA09BB94C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852" y="5230368"/>
            <a:ext cx="237744" cy="237744"/>
          </a:xfrm>
          <a:prstGeom prst="rect">
            <a:avLst/>
          </a:prstGeom>
        </p:spPr>
      </p:pic>
      <p:sp>
        <p:nvSpPr>
          <p:cNvPr id="84" name="Text 21">
            <a:extLst>
              <a:ext uri="{FF2B5EF4-FFF2-40B4-BE49-F238E27FC236}">
                <a16:creationId xmlns:a16="http://schemas.microsoft.com/office/drawing/2014/main" id="{50360187-3109-3681-E44E-947B40837485}"/>
              </a:ext>
            </a:extLst>
          </p:cNvPr>
          <p:cNvSpPr txBox="1"/>
          <p:nvPr/>
        </p:nvSpPr>
        <p:spPr>
          <a:xfrm>
            <a:off x="1586484" y="51206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Non-POTS</a:t>
            </a:r>
            <a:endParaRPr lang="id-ID" sz="1300" dirty="0"/>
          </a:p>
        </p:txBody>
      </p:sp>
      <p:sp>
        <p:nvSpPr>
          <p:cNvPr id="86" name="Text 22">
            <a:extLst>
              <a:ext uri="{FF2B5EF4-FFF2-40B4-BE49-F238E27FC236}">
                <a16:creationId xmlns:a16="http://schemas.microsoft.com/office/drawing/2014/main" id="{AA08DD90-050B-F3EA-3975-4DE8D8898343}"/>
              </a:ext>
            </a:extLst>
          </p:cNvPr>
          <p:cNvSpPr txBox="1"/>
          <p:nvPr/>
        </p:nvSpPr>
        <p:spPr>
          <a:xfrm>
            <a:off x="992124" y="5687568"/>
            <a:ext cx="4672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d-ID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terlengkap: KPI, chart VOC &amp; Segmen, filter, dan edit VOC + Keterangan langsung dari dashboard.</a:t>
            </a:r>
            <a:endParaRPr lang="id-ID" sz="1150" dirty="0"/>
          </a:p>
        </p:txBody>
      </p:sp>
      <p:sp>
        <p:nvSpPr>
          <p:cNvPr id="88" name="Shape 23">
            <a:extLst>
              <a:ext uri="{FF2B5EF4-FFF2-40B4-BE49-F238E27FC236}">
                <a16:creationId xmlns:a16="http://schemas.microsoft.com/office/drawing/2014/main" id="{54520631-6855-C1FC-567F-38670DCE025C}"/>
              </a:ext>
            </a:extLst>
          </p:cNvPr>
          <p:cNvSpPr/>
          <p:nvPr/>
        </p:nvSpPr>
        <p:spPr>
          <a:xfrm>
            <a:off x="6323076" y="4937760"/>
            <a:ext cx="5074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0" name="Shape 24">
            <a:extLst>
              <a:ext uri="{FF2B5EF4-FFF2-40B4-BE49-F238E27FC236}">
                <a16:creationId xmlns:a16="http://schemas.microsoft.com/office/drawing/2014/main" id="{400A10C0-DD00-739E-D273-CEF35C3781DE}"/>
              </a:ext>
            </a:extLst>
          </p:cNvPr>
          <p:cNvSpPr/>
          <p:nvPr/>
        </p:nvSpPr>
        <p:spPr>
          <a:xfrm>
            <a:off x="6524244" y="5120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92" name="Image 5" descr="C:\Users\ASUS\AppData\Local\Temp\claude\c--Users-ASUS-Documents-KEMNAKER-TELKOM-collection-monitoring\8853f589-4ea1-480c-bc49-7bc43969ae1c\scratchpad\pptx\icons\red\trophy.png">
            <a:extLst>
              <a:ext uri="{FF2B5EF4-FFF2-40B4-BE49-F238E27FC236}">
                <a16:creationId xmlns:a16="http://schemas.microsoft.com/office/drawing/2014/main" id="{51EB86C7-2404-96F2-77C6-860FDDDD63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3972" y="5230368"/>
            <a:ext cx="237744" cy="237744"/>
          </a:xfrm>
          <a:prstGeom prst="rect">
            <a:avLst/>
          </a:prstGeom>
        </p:spPr>
      </p:pic>
      <p:sp>
        <p:nvSpPr>
          <p:cNvPr id="94" name="Text 25">
            <a:extLst>
              <a:ext uri="{FF2B5EF4-FFF2-40B4-BE49-F238E27FC236}">
                <a16:creationId xmlns:a16="http://schemas.microsoft.com/office/drawing/2014/main" id="{79E38376-89EC-D106-967C-253F2C2BF6F0}"/>
              </a:ext>
            </a:extLst>
          </p:cNvPr>
          <p:cNvSpPr txBox="1"/>
          <p:nvPr/>
        </p:nvSpPr>
        <p:spPr>
          <a:xfrm>
            <a:off x="7118604" y="51206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AM</a:t>
            </a:r>
            <a:endParaRPr lang="id-ID" sz="1300" dirty="0"/>
          </a:p>
        </p:txBody>
      </p:sp>
      <p:sp>
        <p:nvSpPr>
          <p:cNvPr id="96" name="Text 26">
            <a:extLst>
              <a:ext uri="{FF2B5EF4-FFF2-40B4-BE49-F238E27FC236}">
                <a16:creationId xmlns:a16="http://schemas.microsoft.com/office/drawing/2014/main" id="{EBC6E573-D90F-0CF2-98FA-ADA200FB82A8}"/>
              </a:ext>
            </a:extLst>
          </p:cNvPr>
          <p:cNvSpPr txBox="1"/>
          <p:nvPr/>
        </p:nvSpPr>
        <p:spPr>
          <a:xfrm>
            <a:off x="6524244" y="5687568"/>
            <a:ext cx="4672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d-ID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Peringkat AM: Belum Lunas / Lunas / Grand Total (Jumlah &amp; Tagihan) plus Success Rate.</a:t>
            </a:r>
            <a:endParaRPr lang="id-ID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7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Tampilan</a:t>
            </a:r>
            <a:r>
              <a:rPr lang="en-US" sz="3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Dashboard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Monitoring — Witel Sulbagsel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2BE475-AA6B-5DA7-6DA1-BBC72BE46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45806"/>
            <a:ext cx="5853408" cy="27420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5AE67D-379E-353B-DA23-858DB624C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608" y="3763499"/>
            <a:ext cx="5467463" cy="26444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7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Arsitektur &amp; Alur Pengembangan</a:t>
            </a:r>
            <a:endParaRPr lang="en-US" sz="32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Monitoring — Witel Sulbagsel</a:t>
            </a:r>
            <a:endParaRPr lang="en-US" sz="900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143F4F58-FE54-6D98-0A1A-25C1021EECFA}"/>
              </a:ext>
            </a:extLst>
          </p:cNvPr>
          <p:cNvSpPr/>
          <p:nvPr/>
        </p:nvSpPr>
        <p:spPr>
          <a:xfrm>
            <a:off x="548640" y="16002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4866E828-F37F-2600-A51C-772852858CBE}"/>
              </a:ext>
            </a:extLst>
          </p:cNvPr>
          <p:cNvSpPr/>
          <p:nvPr/>
        </p:nvSpPr>
        <p:spPr>
          <a:xfrm>
            <a:off x="777240" y="1783080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31" name="Image 0" descr="C:\Users\ASUS\AppData\Local\Temp\claude\c--Users-ASUS-Documents-KEMNAKER-TELKOM-collection-monitoring\8853f589-4ea1-480c-bc49-7bc43969ae1c\scratchpad\pptx\icons\red\lock.png">
            <a:extLst>
              <a:ext uri="{FF2B5EF4-FFF2-40B4-BE49-F238E27FC236}">
                <a16:creationId xmlns:a16="http://schemas.microsoft.com/office/drawing/2014/main" id="{83B30019-14D5-3DDB-A20E-73E576339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1914754"/>
            <a:ext cx="285293" cy="285293"/>
          </a:xfrm>
          <a:prstGeom prst="rect">
            <a:avLst/>
          </a:prstGeom>
        </p:spPr>
      </p:pic>
      <p:sp>
        <p:nvSpPr>
          <p:cNvPr id="33" name="Text 4">
            <a:extLst>
              <a:ext uri="{FF2B5EF4-FFF2-40B4-BE49-F238E27FC236}">
                <a16:creationId xmlns:a16="http://schemas.microsoft.com/office/drawing/2014/main" id="{7BE481BF-76CB-D3EC-245F-A703B72A12E0}"/>
              </a:ext>
            </a:extLst>
          </p:cNvPr>
          <p:cNvSpPr txBox="1"/>
          <p:nvPr/>
        </p:nvSpPr>
        <p:spPr>
          <a:xfrm>
            <a:off x="1554480" y="1691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13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Arsitektur file</a:t>
            </a:r>
            <a:endParaRPr lang="id-ID" sz="135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71766221-E0C9-DAED-EDAC-EA7AB0C47782}"/>
              </a:ext>
            </a:extLst>
          </p:cNvPr>
          <p:cNvSpPr txBox="1"/>
          <p:nvPr/>
        </p:nvSpPr>
        <p:spPr>
          <a:xfrm>
            <a:off x="4663440" y="16687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d-ID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dan JS dalam satu</a:t>
            </a:r>
            <a:r>
              <a:rPr lang="en-US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</a:t>
            </a:r>
            <a:r>
              <a:rPr lang="id-ID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index.html</a:t>
            </a:r>
            <a:endParaRPr lang="id-ID" sz="1150" dirty="0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383311B1-70DC-58F3-F72C-F599C206AB86}"/>
              </a:ext>
            </a:extLst>
          </p:cNvPr>
          <p:cNvSpPr/>
          <p:nvPr/>
        </p:nvSpPr>
        <p:spPr>
          <a:xfrm>
            <a:off x="548640" y="2624328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6AC7BD0-9B23-4D98-45B7-6C884D046E4D}"/>
              </a:ext>
            </a:extLst>
          </p:cNvPr>
          <p:cNvSpPr/>
          <p:nvPr/>
        </p:nvSpPr>
        <p:spPr>
          <a:xfrm>
            <a:off x="777240" y="2807208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41" name="Image 1" descr="C:\Users\ASUS\AppData\Local\Temp\claude\c--Users-ASUS-Documents-KEMNAKER-TELKOM-collection-monitoring\8853f589-4ea1-480c-bc49-7bc43969ae1c\scratchpad\pptx\icons\red\comments.png">
            <a:extLst>
              <a:ext uri="{FF2B5EF4-FFF2-40B4-BE49-F238E27FC236}">
                <a16:creationId xmlns:a16="http://schemas.microsoft.com/office/drawing/2014/main" id="{2DC5B2A9-BE27-D4B6-C117-FBF3DD9ED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2938882"/>
            <a:ext cx="285293" cy="285293"/>
          </a:xfrm>
          <a:prstGeom prst="rect">
            <a:avLst/>
          </a:prstGeom>
        </p:spPr>
      </p:pic>
      <p:sp>
        <p:nvSpPr>
          <p:cNvPr id="43" name="Text 8">
            <a:extLst>
              <a:ext uri="{FF2B5EF4-FFF2-40B4-BE49-F238E27FC236}">
                <a16:creationId xmlns:a16="http://schemas.microsoft.com/office/drawing/2014/main" id="{15743D9E-D3B5-596D-B6A6-EC3F08B5D2A7}"/>
              </a:ext>
            </a:extLst>
          </p:cNvPr>
          <p:cNvSpPr txBox="1"/>
          <p:nvPr/>
        </p:nvSpPr>
        <p:spPr>
          <a:xfrm>
            <a:off x="1554480" y="271576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13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Sumber data live dari Google Sheets</a:t>
            </a:r>
            <a:endParaRPr lang="id-ID" sz="1350" dirty="0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226935A9-A64E-0C35-8953-EEFC5546D7BB}"/>
              </a:ext>
            </a:extLst>
          </p:cNvPr>
          <p:cNvSpPr txBox="1"/>
          <p:nvPr/>
        </p:nvSpPr>
        <p:spPr>
          <a:xfrm>
            <a:off x="4663440" y="2692908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d-ID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database — </a:t>
            </a:r>
            <a:r>
              <a:rPr lang="en-ID" sz="1150" dirty="0">
                <a:solidFill>
                  <a:schemeClr val="bg2">
                    <a:lumMod val="50000"/>
                  </a:schemeClr>
                </a:solidFill>
              </a:rPr>
              <a:t>Data </a:t>
            </a:r>
            <a:r>
              <a:rPr lang="en-ID" sz="1150" dirty="0" err="1">
                <a:solidFill>
                  <a:schemeClr val="bg2">
                    <a:lumMod val="50000"/>
                  </a:schemeClr>
                </a:solidFill>
              </a:rPr>
              <a:t>bersumber</a:t>
            </a:r>
            <a:r>
              <a:rPr lang="en-ID" sz="115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ID" sz="1150" dirty="0" err="1">
                <a:solidFill>
                  <a:schemeClr val="bg2">
                    <a:lumMod val="50000"/>
                  </a:schemeClr>
                </a:solidFill>
              </a:rPr>
              <a:t>dari</a:t>
            </a:r>
            <a:r>
              <a:rPr lang="en-ID" sz="1150" dirty="0">
                <a:solidFill>
                  <a:schemeClr val="bg2">
                    <a:lumMod val="50000"/>
                  </a:schemeClr>
                </a:solidFill>
              </a:rPr>
              <a:t> Google Sheets.</a:t>
            </a:r>
            <a:endParaRPr lang="id-ID" sz="11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7" name="Shape 10">
            <a:extLst>
              <a:ext uri="{FF2B5EF4-FFF2-40B4-BE49-F238E27FC236}">
                <a16:creationId xmlns:a16="http://schemas.microsoft.com/office/drawing/2014/main" id="{5B7B28EA-BC23-EE47-A90A-D898B1631596}"/>
              </a:ext>
            </a:extLst>
          </p:cNvPr>
          <p:cNvSpPr/>
          <p:nvPr/>
        </p:nvSpPr>
        <p:spPr>
          <a:xfrm>
            <a:off x="548640" y="3648456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5A8765E8-14D2-8A13-E851-A7B286DE30D5}"/>
              </a:ext>
            </a:extLst>
          </p:cNvPr>
          <p:cNvSpPr/>
          <p:nvPr/>
        </p:nvSpPr>
        <p:spPr>
          <a:xfrm>
            <a:off x="777240" y="3831336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51" name="Image 2" descr="C:\Users\ASUS\AppData\Local\Temp\claude\c--Users-ASUS-Documents-KEMNAKER-TELKOM-collection-monitoring\8853f589-4ea1-480c-bc49-7bc43969ae1c\scratchpad\pptx\icons\red\trophy.png">
            <a:extLst>
              <a:ext uri="{FF2B5EF4-FFF2-40B4-BE49-F238E27FC236}">
                <a16:creationId xmlns:a16="http://schemas.microsoft.com/office/drawing/2014/main" id="{D69969C9-524C-0854-4E3B-BD8A1F600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3963010"/>
            <a:ext cx="285293" cy="285293"/>
          </a:xfrm>
          <a:prstGeom prst="rect">
            <a:avLst/>
          </a:prstGeom>
        </p:spPr>
      </p:pic>
      <p:sp>
        <p:nvSpPr>
          <p:cNvPr id="53" name="Text 12">
            <a:extLst>
              <a:ext uri="{FF2B5EF4-FFF2-40B4-BE49-F238E27FC236}">
                <a16:creationId xmlns:a16="http://schemas.microsoft.com/office/drawing/2014/main" id="{E8696101-AB5C-C1B3-5E8F-A996302D1CB6}"/>
              </a:ext>
            </a:extLst>
          </p:cNvPr>
          <p:cNvSpPr txBox="1"/>
          <p:nvPr/>
        </p:nvSpPr>
        <p:spPr>
          <a:xfrm>
            <a:off x="1554480" y="373989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13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Riwayat perubahan di Git/GitHub</a:t>
            </a:r>
            <a:endParaRPr lang="id-ID" sz="1350" dirty="0"/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434396EC-E68F-BC7A-EF6A-CD0A20F2E7D6}"/>
              </a:ext>
            </a:extLst>
          </p:cNvPr>
          <p:cNvSpPr txBox="1"/>
          <p:nvPr/>
        </p:nvSpPr>
        <p:spPr>
          <a:xfrm>
            <a:off x="4663440" y="3717036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d-ID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perubahan fitur di-commit bertahap dan tercatat historinya di repository.</a:t>
            </a:r>
            <a:endParaRPr lang="id-ID" sz="1150" dirty="0"/>
          </a:p>
        </p:txBody>
      </p:sp>
      <p:sp>
        <p:nvSpPr>
          <p:cNvPr id="57" name="Shape 14">
            <a:extLst>
              <a:ext uri="{FF2B5EF4-FFF2-40B4-BE49-F238E27FC236}">
                <a16:creationId xmlns:a16="http://schemas.microsoft.com/office/drawing/2014/main" id="{9BDDFD5D-49A9-222E-667B-F328479D6ADF}"/>
              </a:ext>
            </a:extLst>
          </p:cNvPr>
          <p:cNvSpPr/>
          <p:nvPr/>
        </p:nvSpPr>
        <p:spPr>
          <a:xfrm>
            <a:off x="548640" y="4672584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15">
            <a:extLst>
              <a:ext uri="{FF2B5EF4-FFF2-40B4-BE49-F238E27FC236}">
                <a16:creationId xmlns:a16="http://schemas.microsoft.com/office/drawing/2014/main" id="{61847519-69D6-56EC-3685-3B616EF89310}"/>
              </a:ext>
            </a:extLst>
          </p:cNvPr>
          <p:cNvSpPr/>
          <p:nvPr/>
        </p:nvSpPr>
        <p:spPr>
          <a:xfrm>
            <a:off x="777240" y="4855464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61" name="Image 3" descr="C:\Users\ASUS\AppData\Local\Temp\claude\c--Users-ASUS-Documents-KEMNAKER-TELKOM-collection-monitoring\8853f589-4ea1-480c-bc49-7bc43969ae1c\scratchpad\pptx\icons\red\bolt.png">
            <a:extLst>
              <a:ext uri="{FF2B5EF4-FFF2-40B4-BE49-F238E27FC236}">
                <a16:creationId xmlns:a16="http://schemas.microsoft.com/office/drawing/2014/main" id="{680255D0-909C-F1EA-9ED8-BE96A126E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4" y="4987138"/>
            <a:ext cx="285293" cy="285293"/>
          </a:xfrm>
          <a:prstGeom prst="rect">
            <a:avLst/>
          </a:prstGeom>
        </p:spPr>
      </p:pic>
      <p:sp>
        <p:nvSpPr>
          <p:cNvPr id="63" name="Text 16">
            <a:extLst>
              <a:ext uri="{FF2B5EF4-FFF2-40B4-BE49-F238E27FC236}">
                <a16:creationId xmlns:a16="http://schemas.microsoft.com/office/drawing/2014/main" id="{16EEC68E-A899-EFFC-C19C-EF299A825E5D}"/>
              </a:ext>
            </a:extLst>
          </p:cNvPr>
          <p:cNvSpPr txBox="1"/>
          <p:nvPr/>
        </p:nvSpPr>
        <p:spPr>
          <a:xfrm>
            <a:off x="1554480" y="476402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13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Dikembangkan iteratif</a:t>
            </a:r>
            <a:endParaRPr lang="id-ID" sz="1350" dirty="0"/>
          </a:p>
        </p:txBody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55B5BF4C-8851-DB1A-7679-592C6585BD17}"/>
              </a:ext>
            </a:extLst>
          </p:cNvPr>
          <p:cNvSpPr txBox="1"/>
          <p:nvPr/>
        </p:nvSpPr>
        <p:spPr>
          <a:xfrm>
            <a:off x="4663440" y="4741164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d-ID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baru langsung diterapkan ke index.html, diuji di browser, lalu di-commit.</a:t>
            </a:r>
            <a:endParaRPr lang="id-ID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7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&amp; Operasional</a:t>
            </a:r>
            <a:endParaRPr lang="en-US" sz="32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Monitoring — Witel Sulbagsel</a:t>
            </a:r>
            <a:endParaRPr lang="en-US" sz="900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143F4F58-FE54-6D98-0A1A-25C1021EECFA}"/>
              </a:ext>
            </a:extLst>
          </p:cNvPr>
          <p:cNvSpPr/>
          <p:nvPr/>
        </p:nvSpPr>
        <p:spPr>
          <a:xfrm>
            <a:off x="548640" y="16002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4866E828-F37F-2600-A51C-772852858CBE}"/>
              </a:ext>
            </a:extLst>
          </p:cNvPr>
          <p:cNvSpPr/>
          <p:nvPr/>
        </p:nvSpPr>
        <p:spPr>
          <a:xfrm>
            <a:off x="777240" y="1783080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31" name="Image 0" descr="C:\Users\ASUS\AppData\Local\Temp\claude\c--Users-ASUS-Documents-KEMNAKER-TELKOM-collection-monitoring\8853f589-4ea1-480c-bc49-7bc43969ae1c\scratchpad\pptx\icons\red\lock.png">
            <a:extLst>
              <a:ext uri="{FF2B5EF4-FFF2-40B4-BE49-F238E27FC236}">
                <a16:creationId xmlns:a16="http://schemas.microsoft.com/office/drawing/2014/main" id="{83B30019-14D5-3DDB-A20E-73E576339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1914754"/>
            <a:ext cx="285293" cy="285293"/>
          </a:xfrm>
          <a:prstGeom prst="rect">
            <a:avLst/>
          </a:prstGeom>
        </p:spPr>
      </p:pic>
      <p:sp>
        <p:nvSpPr>
          <p:cNvPr id="33" name="Text 4">
            <a:extLst>
              <a:ext uri="{FF2B5EF4-FFF2-40B4-BE49-F238E27FC236}">
                <a16:creationId xmlns:a16="http://schemas.microsoft.com/office/drawing/2014/main" id="{7BE481BF-76CB-D3EC-245F-A703B72A12E0}"/>
              </a:ext>
            </a:extLst>
          </p:cNvPr>
          <p:cNvSpPr txBox="1"/>
          <p:nvPr/>
        </p:nvSpPr>
        <p:spPr>
          <a:xfrm>
            <a:off x="1554480" y="1691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13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Fleksibel di-hosting di mana saja</a:t>
            </a:r>
            <a:endParaRPr lang="id-ID" sz="135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71766221-E0C9-DAED-EDAC-EA7AB0C47782}"/>
              </a:ext>
            </a:extLst>
          </p:cNvPr>
          <p:cNvSpPr txBox="1"/>
          <p:nvPr/>
        </p:nvSpPr>
        <p:spPr>
          <a:xfrm>
            <a:off x="4663440" y="16687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D" sz="1150" dirty="0" err="1">
                <a:solidFill>
                  <a:schemeClr val="bg2">
                    <a:lumMod val="50000"/>
                  </a:schemeClr>
                </a:solidFill>
              </a:rPr>
              <a:t>Dapat</a:t>
            </a:r>
            <a:r>
              <a:rPr lang="en-ID" sz="1150" dirty="0">
                <a:solidFill>
                  <a:schemeClr val="bg2">
                    <a:lumMod val="50000"/>
                  </a:schemeClr>
                </a:solidFill>
              </a:rPr>
              <a:t> di-deploy pada </a:t>
            </a:r>
            <a:r>
              <a:rPr lang="en-ID" sz="1150" dirty="0" err="1">
                <a:solidFill>
                  <a:schemeClr val="bg2">
                    <a:lumMod val="50000"/>
                  </a:schemeClr>
                </a:solidFill>
              </a:rPr>
              <a:t>berbagai</a:t>
            </a:r>
            <a:r>
              <a:rPr lang="en-ID" sz="1150" dirty="0">
                <a:solidFill>
                  <a:schemeClr val="bg2">
                    <a:lumMod val="50000"/>
                  </a:schemeClr>
                </a:solidFill>
              </a:rPr>
              <a:t> platform hosting website statis </a:t>
            </a:r>
            <a:r>
              <a:rPr lang="en-ID" sz="1150" dirty="0" err="1">
                <a:solidFill>
                  <a:schemeClr val="bg2">
                    <a:lumMod val="50000"/>
                  </a:schemeClr>
                </a:solidFill>
              </a:rPr>
              <a:t>tanpa</a:t>
            </a:r>
            <a:r>
              <a:rPr lang="en-ID" sz="115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ID" sz="1150" dirty="0" err="1">
                <a:solidFill>
                  <a:schemeClr val="bg2">
                    <a:lumMod val="50000"/>
                  </a:schemeClr>
                </a:solidFill>
              </a:rPr>
              <a:t>memerlukan</a:t>
            </a:r>
            <a:r>
              <a:rPr lang="en-ID" sz="1150" dirty="0">
                <a:solidFill>
                  <a:schemeClr val="bg2">
                    <a:lumMod val="50000"/>
                  </a:schemeClr>
                </a:solidFill>
              </a:rPr>
              <a:t> server </a:t>
            </a:r>
            <a:r>
              <a:rPr lang="en-ID" sz="1150" dirty="0" err="1">
                <a:solidFill>
                  <a:schemeClr val="bg2">
                    <a:lumMod val="50000"/>
                  </a:schemeClr>
                </a:solidFill>
              </a:rPr>
              <a:t>khusus</a:t>
            </a:r>
            <a:r>
              <a:rPr lang="en-ID" sz="1150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id-ID" sz="11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383311B1-70DC-58F3-F72C-F599C206AB86}"/>
              </a:ext>
            </a:extLst>
          </p:cNvPr>
          <p:cNvSpPr/>
          <p:nvPr/>
        </p:nvSpPr>
        <p:spPr>
          <a:xfrm>
            <a:off x="548640" y="2624328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6AC7BD0-9B23-4D98-45B7-6C884D046E4D}"/>
              </a:ext>
            </a:extLst>
          </p:cNvPr>
          <p:cNvSpPr/>
          <p:nvPr/>
        </p:nvSpPr>
        <p:spPr>
          <a:xfrm>
            <a:off x="777240" y="2807208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41" name="Image 1" descr="C:\Users\ASUS\AppData\Local\Temp\claude\c--Users-ASUS-Documents-KEMNAKER-TELKOM-collection-monitoring\8853f589-4ea1-480c-bc49-7bc43969ae1c\scratchpad\pptx\icons\red\comments.png">
            <a:extLst>
              <a:ext uri="{FF2B5EF4-FFF2-40B4-BE49-F238E27FC236}">
                <a16:creationId xmlns:a16="http://schemas.microsoft.com/office/drawing/2014/main" id="{2DC5B2A9-BE27-D4B6-C117-FBF3DD9ED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2938882"/>
            <a:ext cx="285293" cy="285293"/>
          </a:xfrm>
          <a:prstGeom prst="rect">
            <a:avLst/>
          </a:prstGeom>
        </p:spPr>
      </p:pic>
      <p:sp>
        <p:nvSpPr>
          <p:cNvPr id="43" name="Text 8">
            <a:extLst>
              <a:ext uri="{FF2B5EF4-FFF2-40B4-BE49-F238E27FC236}">
                <a16:creationId xmlns:a16="http://schemas.microsoft.com/office/drawing/2014/main" id="{15743D9E-D3B5-596D-B6A6-EC3F08B5D2A7}"/>
              </a:ext>
            </a:extLst>
          </p:cNvPr>
          <p:cNvSpPr txBox="1"/>
          <p:nvPr/>
        </p:nvSpPr>
        <p:spPr>
          <a:xfrm>
            <a:off x="1554480" y="271576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13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Butuh koneksi internet aktif</a:t>
            </a:r>
            <a:endParaRPr lang="id-ID" sz="1350" dirty="0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226935A9-A64E-0C35-8953-EEFC5546D7BB}"/>
              </a:ext>
            </a:extLst>
          </p:cNvPr>
          <p:cNvSpPr txBox="1"/>
          <p:nvPr/>
        </p:nvSpPr>
        <p:spPr>
          <a:xfrm>
            <a:off x="4663440" y="2692908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d-ID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data ditarik real-time dari Google Sheets, jadi dashboard tidak punya mode offline.</a:t>
            </a:r>
            <a:endParaRPr lang="id-ID" sz="1150" dirty="0"/>
          </a:p>
        </p:txBody>
      </p:sp>
      <p:sp>
        <p:nvSpPr>
          <p:cNvPr id="47" name="Shape 10">
            <a:extLst>
              <a:ext uri="{FF2B5EF4-FFF2-40B4-BE49-F238E27FC236}">
                <a16:creationId xmlns:a16="http://schemas.microsoft.com/office/drawing/2014/main" id="{5B7B28EA-BC23-EE47-A90A-D898B1631596}"/>
              </a:ext>
            </a:extLst>
          </p:cNvPr>
          <p:cNvSpPr/>
          <p:nvPr/>
        </p:nvSpPr>
        <p:spPr>
          <a:xfrm>
            <a:off x="548640" y="3648456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5A8765E8-14D2-8A13-E851-A7B286DE30D5}"/>
              </a:ext>
            </a:extLst>
          </p:cNvPr>
          <p:cNvSpPr/>
          <p:nvPr/>
        </p:nvSpPr>
        <p:spPr>
          <a:xfrm>
            <a:off x="777240" y="3831336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51" name="Image 2" descr="C:\Users\ASUS\AppData\Local\Temp\claude\c--Users-ASUS-Documents-KEMNAKER-TELKOM-collection-monitoring\8853f589-4ea1-480c-bc49-7bc43969ae1c\scratchpad\pptx\icons\red\trophy.png">
            <a:extLst>
              <a:ext uri="{FF2B5EF4-FFF2-40B4-BE49-F238E27FC236}">
                <a16:creationId xmlns:a16="http://schemas.microsoft.com/office/drawing/2014/main" id="{D69969C9-524C-0854-4E3B-BD8A1F600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3963010"/>
            <a:ext cx="285293" cy="285293"/>
          </a:xfrm>
          <a:prstGeom prst="rect">
            <a:avLst/>
          </a:prstGeom>
        </p:spPr>
      </p:pic>
      <p:sp>
        <p:nvSpPr>
          <p:cNvPr id="53" name="Text 12">
            <a:extLst>
              <a:ext uri="{FF2B5EF4-FFF2-40B4-BE49-F238E27FC236}">
                <a16:creationId xmlns:a16="http://schemas.microsoft.com/office/drawing/2014/main" id="{E8696101-AB5C-C1B3-5E8F-A996302D1CB6}"/>
              </a:ext>
            </a:extLst>
          </p:cNvPr>
          <p:cNvSpPr txBox="1"/>
          <p:nvPr/>
        </p:nvSpPr>
        <p:spPr>
          <a:xfrm>
            <a:off x="1554480" y="373989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13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Tanpa biaya langganan</a:t>
            </a:r>
            <a:endParaRPr lang="id-ID" sz="1350" dirty="0"/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434396EC-E68F-BC7A-EF6A-CD0A20F2E7D6}"/>
              </a:ext>
            </a:extLst>
          </p:cNvPr>
          <p:cNvSpPr txBox="1"/>
          <p:nvPr/>
        </p:nvSpPr>
        <p:spPr>
          <a:xfrm>
            <a:off x="4663440" y="3717036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d-ID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Sheets, GitHub, dan seluruh library yang dipakai gratis digunakan.</a:t>
            </a:r>
            <a:endParaRPr lang="id-ID" sz="1150" dirty="0"/>
          </a:p>
        </p:txBody>
      </p:sp>
      <p:sp>
        <p:nvSpPr>
          <p:cNvPr id="57" name="Shape 14">
            <a:extLst>
              <a:ext uri="{FF2B5EF4-FFF2-40B4-BE49-F238E27FC236}">
                <a16:creationId xmlns:a16="http://schemas.microsoft.com/office/drawing/2014/main" id="{9BDDFD5D-49A9-222E-667B-F328479D6ADF}"/>
              </a:ext>
            </a:extLst>
          </p:cNvPr>
          <p:cNvSpPr/>
          <p:nvPr/>
        </p:nvSpPr>
        <p:spPr>
          <a:xfrm>
            <a:off x="548640" y="4672584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15">
            <a:extLst>
              <a:ext uri="{FF2B5EF4-FFF2-40B4-BE49-F238E27FC236}">
                <a16:creationId xmlns:a16="http://schemas.microsoft.com/office/drawing/2014/main" id="{61847519-69D6-56EC-3685-3B616EF89310}"/>
              </a:ext>
            </a:extLst>
          </p:cNvPr>
          <p:cNvSpPr/>
          <p:nvPr/>
        </p:nvSpPr>
        <p:spPr>
          <a:xfrm>
            <a:off x="777240" y="4855464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61" name="Image 3" descr="C:\Users\ASUS\AppData\Local\Temp\claude\c--Users-ASUS-Documents-KEMNAKER-TELKOM-collection-monitoring\8853f589-4ea1-480c-bc49-7bc43969ae1c\scratchpad\pptx\icons\red\bolt.png">
            <a:extLst>
              <a:ext uri="{FF2B5EF4-FFF2-40B4-BE49-F238E27FC236}">
                <a16:creationId xmlns:a16="http://schemas.microsoft.com/office/drawing/2014/main" id="{680255D0-909C-F1EA-9ED8-BE96A126E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4" y="4987138"/>
            <a:ext cx="285293" cy="285293"/>
          </a:xfrm>
          <a:prstGeom prst="rect">
            <a:avLst/>
          </a:prstGeom>
        </p:spPr>
      </p:pic>
      <p:sp>
        <p:nvSpPr>
          <p:cNvPr id="63" name="Text 16">
            <a:extLst>
              <a:ext uri="{FF2B5EF4-FFF2-40B4-BE49-F238E27FC236}">
                <a16:creationId xmlns:a16="http://schemas.microsoft.com/office/drawing/2014/main" id="{16EEC68E-A899-EFFC-C19C-EF299A825E5D}"/>
              </a:ext>
            </a:extLst>
          </p:cNvPr>
          <p:cNvSpPr txBox="1"/>
          <p:nvPr/>
        </p:nvSpPr>
        <p:spPr>
          <a:xfrm>
            <a:off x="1554480" y="476402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13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Maintenance oleh siapa pun dengan akses</a:t>
            </a:r>
            <a:endParaRPr lang="id-ID" sz="1350" dirty="0"/>
          </a:p>
        </p:txBody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55B5BF4C-8851-DB1A-7679-592C6585BD17}"/>
              </a:ext>
            </a:extLst>
          </p:cNvPr>
          <p:cNvSpPr txBox="1"/>
          <p:nvPr/>
        </p:nvSpPr>
        <p:spPr>
          <a:xfrm>
            <a:off x="4663440" y="4741164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d-ID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terikat satu orang — siapa pun yang punya akses repository bisa melanjutkan pengembangannya.</a:t>
            </a:r>
            <a:endParaRPr lang="id-ID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7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Perkembangan Terbaru</a:t>
            </a:r>
            <a:endParaRPr lang="en-US" sz="32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Monitoring — Witel Sulbagsel</a:t>
            </a:r>
            <a:endParaRPr lang="en-US" sz="900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143F4F58-FE54-6D98-0A1A-25C1021EECFA}"/>
              </a:ext>
            </a:extLst>
          </p:cNvPr>
          <p:cNvSpPr/>
          <p:nvPr/>
        </p:nvSpPr>
        <p:spPr>
          <a:xfrm>
            <a:off x="548640" y="16002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4866E828-F37F-2600-A51C-772852858CBE}"/>
              </a:ext>
            </a:extLst>
          </p:cNvPr>
          <p:cNvSpPr/>
          <p:nvPr/>
        </p:nvSpPr>
        <p:spPr>
          <a:xfrm>
            <a:off x="777240" y="1783080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31" name="Image 0" descr="C:\Users\ASUS\AppData\Local\Temp\claude\c--Users-ASUS-Documents-KEMNAKER-TELKOM-collection-monitoring\8853f589-4ea1-480c-bc49-7bc43969ae1c\scratchpad\pptx\icons\red\lock.png">
            <a:extLst>
              <a:ext uri="{FF2B5EF4-FFF2-40B4-BE49-F238E27FC236}">
                <a16:creationId xmlns:a16="http://schemas.microsoft.com/office/drawing/2014/main" id="{83B30019-14D5-3DDB-A20E-73E576339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1914754"/>
            <a:ext cx="285293" cy="285293"/>
          </a:xfrm>
          <a:prstGeom prst="rect">
            <a:avLst/>
          </a:prstGeom>
        </p:spPr>
      </p:pic>
      <p:sp>
        <p:nvSpPr>
          <p:cNvPr id="33" name="Text 4">
            <a:extLst>
              <a:ext uri="{FF2B5EF4-FFF2-40B4-BE49-F238E27FC236}">
                <a16:creationId xmlns:a16="http://schemas.microsoft.com/office/drawing/2014/main" id="{7BE481BF-76CB-D3EC-245F-A703B72A12E0}"/>
              </a:ext>
            </a:extLst>
          </p:cNvPr>
          <p:cNvSpPr txBox="1"/>
          <p:nvPr/>
        </p:nvSpPr>
        <p:spPr>
          <a:xfrm>
            <a:off x="1554480" y="1691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13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multi-role</a:t>
            </a:r>
            <a:endParaRPr lang="id-ID" sz="135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71766221-E0C9-DAED-EDAC-EA7AB0C47782}"/>
              </a:ext>
            </a:extLst>
          </p:cNvPr>
          <p:cNvSpPr txBox="1"/>
          <p:nvPr/>
        </p:nvSpPr>
        <p:spPr>
          <a:xfrm>
            <a:off x="4663440" y="16687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en-US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Sebelumnya</a:t>
            </a:r>
            <a:r>
              <a:rPr lang="en-US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 </a:t>
            </a:r>
            <a:r>
              <a:rPr lang="en-US" altLang="en-US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</a:t>
            </a:r>
            <a:r>
              <a:rPr lang="en-US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en-US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memiliki</a:t>
            </a:r>
            <a:r>
              <a:rPr lang="en-US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en-US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</a:t>
            </a:r>
            <a:r>
              <a:rPr lang="en-US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login </a:t>
            </a:r>
            <a:r>
              <a:rPr lang="id-ID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sekarang tiap pengguna punya akun sendiri (Admin, AM, HOTD), dikelola di sheet Users.</a:t>
            </a:r>
            <a:endParaRPr lang="id-ID" sz="1150" dirty="0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383311B1-70DC-58F3-F72C-F599C206AB86}"/>
              </a:ext>
            </a:extLst>
          </p:cNvPr>
          <p:cNvSpPr/>
          <p:nvPr/>
        </p:nvSpPr>
        <p:spPr>
          <a:xfrm>
            <a:off x="548640" y="2624328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6AC7BD0-9B23-4D98-45B7-6C884D046E4D}"/>
              </a:ext>
            </a:extLst>
          </p:cNvPr>
          <p:cNvSpPr/>
          <p:nvPr/>
        </p:nvSpPr>
        <p:spPr>
          <a:xfrm>
            <a:off x="777240" y="2807208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41" name="Image 1" descr="C:\Users\ASUS\AppData\Local\Temp\claude\c--Users-ASUS-Documents-KEMNAKER-TELKOM-collection-monitoring\8853f589-4ea1-480c-bc49-7bc43969ae1c\scratchpad\pptx\icons\red\comments.png">
            <a:extLst>
              <a:ext uri="{FF2B5EF4-FFF2-40B4-BE49-F238E27FC236}">
                <a16:creationId xmlns:a16="http://schemas.microsoft.com/office/drawing/2014/main" id="{2DC5B2A9-BE27-D4B6-C117-FBF3DD9ED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2938882"/>
            <a:ext cx="285293" cy="285293"/>
          </a:xfrm>
          <a:prstGeom prst="rect">
            <a:avLst/>
          </a:prstGeom>
        </p:spPr>
      </p:pic>
      <p:sp>
        <p:nvSpPr>
          <p:cNvPr id="43" name="Text 8">
            <a:extLst>
              <a:ext uri="{FF2B5EF4-FFF2-40B4-BE49-F238E27FC236}">
                <a16:creationId xmlns:a16="http://schemas.microsoft.com/office/drawing/2014/main" id="{15743D9E-D3B5-596D-B6A6-EC3F08B5D2A7}"/>
              </a:ext>
            </a:extLst>
          </p:cNvPr>
          <p:cNvSpPr txBox="1"/>
          <p:nvPr/>
        </p:nvSpPr>
        <p:spPr>
          <a:xfrm>
            <a:off x="1554480" y="271576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13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 VOC + Keterangan langsung dari layar</a:t>
            </a:r>
            <a:endParaRPr lang="id-ID" sz="1350" dirty="0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226935A9-A64E-0C35-8953-EEFC5546D7BB}"/>
              </a:ext>
            </a:extLst>
          </p:cNvPr>
          <p:cNvSpPr txBox="1"/>
          <p:nvPr/>
        </p:nvSpPr>
        <p:spPr>
          <a:xfrm>
            <a:off x="4663440" y="2692908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d-ID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Sebelumnya update status pelanggan harus buka Google Sheets → sekarang langsung dari dashboard dan tersimpan otomatis ke sheet.</a:t>
            </a:r>
            <a:endParaRPr lang="id-ID" sz="1150" dirty="0"/>
          </a:p>
        </p:txBody>
      </p:sp>
      <p:sp>
        <p:nvSpPr>
          <p:cNvPr id="47" name="Shape 10">
            <a:extLst>
              <a:ext uri="{FF2B5EF4-FFF2-40B4-BE49-F238E27FC236}">
                <a16:creationId xmlns:a16="http://schemas.microsoft.com/office/drawing/2014/main" id="{5B7B28EA-BC23-EE47-A90A-D898B1631596}"/>
              </a:ext>
            </a:extLst>
          </p:cNvPr>
          <p:cNvSpPr/>
          <p:nvPr/>
        </p:nvSpPr>
        <p:spPr>
          <a:xfrm>
            <a:off x="548640" y="3648456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5A8765E8-14D2-8A13-E851-A7B286DE30D5}"/>
              </a:ext>
            </a:extLst>
          </p:cNvPr>
          <p:cNvSpPr/>
          <p:nvPr/>
        </p:nvSpPr>
        <p:spPr>
          <a:xfrm>
            <a:off x="777240" y="3831336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51" name="Image 2" descr="C:\Users\ASUS\AppData\Local\Temp\claude\c--Users-ASUS-Documents-KEMNAKER-TELKOM-collection-monitoring\8853f589-4ea1-480c-bc49-7bc43969ae1c\scratchpad\pptx\icons\red\trophy.png">
            <a:extLst>
              <a:ext uri="{FF2B5EF4-FFF2-40B4-BE49-F238E27FC236}">
                <a16:creationId xmlns:a16="http://schemas.microsoft.com/office/drawing/2014/main" id="{D69969C9-524C-0854-4E3B-BD8A1F6000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4" y="3963010"/>
            <a:ext cx="285293" cy="285293"/>
          </a:xfrm>
          <a:prstGeom prst="rect">
            <a:avLst/>
          </a:prstGeom>
        </p:spPr>
      </p:pic>
      <p:sp>
        <p:nvSpPr>
          <p:cNvPr id="53" name="Text 12">
            <a:extLst>
              <a:ext uri="{FF2B5EF4-FFF2-40B4-BE49-F238E27FC236}">
                <a16:creationId xmlns:a16="http://schemas.microsoft.com/office/drawing/2014/main" id="{E8696101-AB5C-C1B3-5E8F-A996302D1CB6}"/>
              </a:ext>
            </a:extLst>
          </p:cNvPr>
          <p:cNvSpPr txBox="1"/>
          <p:nvPr/>
        </p:nvSpPr>
        <p:spPr>
          <a:xfrm>
            <a:off x="1554480" y="373989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13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 Performance AM lebih informatif</a:t>
            </a:r>
            <a:endParaRPr lang="id-ID" sz="1350" dirty="0"/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434396EC-E68F-BC7A-EF6A-CD0A20F2E7D6}"/>
              </a:ext>
            </a:extLst>
          </p:cNvPr>
          <p:cNvSpPr txBox="1"/>
          <p:nvPr/>
        </p:nvSpPr>
        <p:spPr>
          <a:xfrm>
            <a:off x="4663440" y="3717036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d-ID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Sebelumnya hanya total &amp; lunas → sekarang rincian Belum Lunas / Lunas / Grand Total (Jumlah &amp; Tagihan) plus Success Rate per AM.</a:t>
            </a:r>
            <a:endParaRPr lang="id-ID" sz="1150" dirty="0"/>
          </a:p>
        </p:txBody>
      </p:sp>
      <p:sp>
        <p:nvSpPr>
          <p:cNvPr id="57" name="Shape 14">
            <a:extLst>
              <a:ext uri="{FF2B5EF4-FFF2-40B4-BE49-F238E27FC236}">
                <a16:creationId xmlns:a16="http://schemas.microsoft.com/office/drawing/2014/main" id="{9BDDFD5D-49A9-222E-667B-F328479D6ADF}"/>
              </a:ext>
            </a:extLst>
          </p:cNvPr>
          <p:cNvSpPr/>
          <p:nvPr/>
        </p:nvSpPr>
        <p:spPr>
          <a:xfrm>
            <a:off x="548640" y="4672584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15">
            <a:extLst>
              <a:ext uri="{FF2B5EF4-FFF2-40B4-BE49-F238E27FC236}">
                <a16:creationId xmlns:a16="http://schemas.microsoft.com/office/drawing/2014/main" id="{61847519-69D6-56EC-3685-3B616EF89310}"/>
              </a:ext>
            </a:extLst>
          </p:cNvPr>
          <p:cNvSpPr/>
          <p:nvPr/>
        </p:nvSpPr>
        <p:spPr>
          <a:xfrm>
            <a:off x="777240" y="4855464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F8D2D2"/>
            </a:solidFill>
            <a:prstDash val="solid"/>
          </a:ln>
        </p:spPr>
      </p:sp>
      <p:pic>
        <p:nvPicPr>
          <p:cNvPr id="61" name="Image 3" descr="C:\Users\ASUS\AppData\Local\Temp\claude\c--Users-ASUS-Documents-KEMNAKER-TELKOM-collection-monitoring\8853f589-4ea1-480c-bc49-7bc43969ae1c\scratchpad\pptx\icons\red\bolt.png">
            <a:extLst>
              <a:ext uri="{FF2B5EF4-FFF2-40B4-BE49-F238E27FC236}">
                <a16:creationId xmlns:a16="http://schemas.microsoft.com/office/drawing/2014/main" id="{680255D0-909C-F1EA-9ED8-BE96A126EE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4" y="4987138"/>
            <a:ext cx="285293" cy="285293"/>
          </a:xfrm>
          <a:prstGeom prst="rect">
            <a:avLst/>
          </a:prstGeom>
        </p:spPr>
      </p:pic>
      <p:sp>
        <p:nvSpPr>
          <p:cNvPr id="63" name="Text 16">
            <a:extLst>
              <a:ext uri="{FF2B5EF4-FFF2-40B4-BE49-F238E27FC236}">
                <a16:creationId xmlns:a16="http://schemas.microsoft.com/office/drawing/2014/main" id="{16EEC68E-A899-EFFC-C19C-EF299A825E5D}"/>
              </a:ext>
            </a:extLst>
          </p:cNvPr>
          <p:cNvSpPr txBox="1"/>
          <p:nvPr/>
        </p:nvSpPr>
        <p:spPr>
          <a:xfrm>
            <a:off x="1554480" y="476402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13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 lebih cepat</a:t>
            </a:r>
            <a:endParaRPr lang="id-ID" sz="1350" dirty="0"/>
          </a:p>
        </p:txBody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55B5BF4C-8851-DB1A-7679-592C6585BD17}"/>
              </a:ext>
            </a:extLst>
          </p:cNvPr>
          <p:cNvSpPr txBox="1"/>
          <p:nvPr/>
        </p:nvSpPr>
        <p:spPr>
          <a:xfrm>
            <a:off x="4663440" y="4741164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id-ID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Sebelumnya tiap buka menunggu ambil data dari Google Sheets → sekarang tampil dari cache dulu, diperbarui di belakang layar.</a:t>
            </a:r>
            <a:endParaRPr lang="id-ID" sz="1150" dirty="0"/>
          </a:p>
        </p:txBody>
      </p:sp>
      <p:sp>
        <p:nvSpPr>
          <p:cNvPr id="67" name="Text 18">
            <a:extLst>
              <a:ext uri="{FF2B5EF4-FFF2-40B4-BE49-F238E27FC236}">
                <a16:creationId xmlns:a16="http://schemas.microsoft.com/office/drawing/2014/main" id="{A0DB20FD-2EE0-5B6B-4E48-52158356B8AA}"/>
              </a:ext>
            </a:extLst>
          </p:cNvPr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alt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role saat ini berfungsi sebagai identitas pengguna — semua pengguna melihat data yang sama</a:t>
            </a:r>
            <a:r>
              <a:rPr lang="en-US" alt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id-ID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7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A0000">
              <a:alpha val="45000"/>
            </a:srgbClr>
          </a:solidFill>
          <a:ln/>
        </p:spPr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580AA4-E0AC-24B7-DAF7-FD74890A6CAC}"/>
              </a:ext>
            </a:extLst>
          </p:cNvPr>
          <p:cNvGrpSpPr/>
          <p:nvPr/>
        </p:nvGrpSpPr>
        <p:grpSpPr>
          <a:xfrm>
            <a:off x="745236" y="1988820"/>
            <a:ext cx="10698480" cy="2880360"/>
            <a:chOff x="731520" y="777240"/>
            <a:chExt cx="10698480" cy="2880360"/>
          </a:xfrm>
        </p:grpSpPr>
        <p:sp>
          <p:nvSpPr>
            <p:cNvPr id="3" name="Shape 1"/>
            <p:cNvSpPr/>
            <p:nvPr/>
          </p:nvSpPr>
          <p:spPr>
            <a:xfrm>
              <a:off x="5184648" y="777240"/>
              <a:ext cx="1828800" cy="1828800"/>
            </a:xfrm>
            <a:prstGeom prst="ellipse">
              <a:avLst/>
            </a:prstGeom>
            <a:solidFill>
              <a:srgbClr val="FFFFFF"/>
            </a:solidFill>
            <a:ln/>
            <a:effectLst>
              <a:outerShdw blurRad="152400" dist="50800" dir="5400000" algn="bl" rotWithShape="0">
                <a:srgbClr val="000000">
                  <a:alpha val="22000"/>
                </a:srgbClr>
              </a:outerShdw>
            </a:effectLst>
          </p:spPr>
        </p:sp>
        <p:pic>
          <p:nvPicPr>
            <p:cNvPr id="4" name="Image 0" descr="C:\Users\ASUS\AppData\Local\Temp\claude\c--Users-ASUS-Documents-KEMNAKER-TELKOM-collection-monitoring\8853f589-4ea1-480c-bc49-7bc43969ae1c\scratchpad\pptx\icons\telkom-log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32120" y="1124712"/>
              <a:ext cx="1133856" cy="1133856"/>
            </a:xfrm>
            <a:prstGeom prst="rect">
              <a:avLst/>
            </a:prstGeom>
          </p:spPr>
        </p:pic>
        <p:sp>
          <p:nvSpPr>
            <p:cNvPr id="5" name="Text 2"/>
            <p:cNvSpPr txBox="1"/>
            <p:nvPr/>
          </p:nvSpPr>
          <p:spPr>
            <a:xfrm>
              <a:off x="731520" y="2834640"/>
              <a:ext cx="1069848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8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Terima Kasih</a:t>
              </a:r>
              <a:endParaRPr lang="en-US" sz="38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784</Words>
  <Application>Microsoft Office PowerPoint</Application>
  <PresentationFormat>Widescreen</PresentationFormat>
  <Paragraphs>106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Dashboard Collection Monitoring — Ringkasan Eksekutif</dc:title>
  <dc:subject>PptxGenJS Presentation</dc:subject>
  <dc:creator>Collection Monitoring</dc:creator>
  <cp:lastModifiedBy>Zabryna Andiny</cp:lastModifiedBy>
  <cp:revision>7</cp:revision>
  <dcterms:created xsi:type="dcterms:W3CDTF">2026-09-21T08:42:57Z</dcterms:created>
  <dcterms:modified xsi:type="dcterms:W3CDTF">2026-09-22T09:02:23Z</dcterms:modified>
</cp:coreProperties>
</file>